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idea of infrastructure cost for the client. Prices pulled live from the Azure Retail Prices API for Southeast Asia (Singapore), the closest Azure region to Bangladesh.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20468"/>
            <a:ext cx="10566400" cy="55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78459"/>
            <a:ext cx="10566400" cy="426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5FCF"/>
          </a:solidFill>
          <a:ln/>
        </p:spPr>
      </p:sp>
      <p:sp>
        <p:nvSpPr>
          <p:cNvPr id="3" name="Text 1"/>
          <p:cNvSpPr/>
          <p:nvPr/>
        </p:nvSpPr>
        <p:spPr>
          <a:xfrm>
            <a:off x="1117600" y="1016000"/>
            <a:ext cx="10569448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B4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AILA CRM · READY-TO-SALE V1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117600" y="1479268"/>
            <a:ext cx="10569448" cy="1550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8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costing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8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technology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17600" y="3233350"/>
            <a:ext cx="10569448" cy="729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FCB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Server × 2 · Kubernetes · Docker · Kafka · SQL Server · Load Balancer · .NET 10 · Angular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5912133"/>
            <a:ext cx="10569448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Indicative monthly costs · Azure Southeast Asia · live list prices, 2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5084191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ARCHITECTURE DIAGRAM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42668"/>
            <a:ext cx="4363931" cy="424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pieces fit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7546" y="907521"/>
            <a:ext cx="4761654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→ Load Balancer → Ingress → AKS (2 servers)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1294588"/>
            <a:ext cx="105664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pic>
        <p:nvPicPr>
          <p:cNvPr id="6" name="Image 0" descr="AILA CRM architecture: client, API Management, Azure Load Balancer, ingress, AKS with six microservices on two nodes around Kafka, Azure SQL, storage, monitoring and CI/C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769" y="1300938"/>
            <a:ext cx="7600462" cy="4940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975" y="1297763"/>
            <a:ext cx="10560050" cy="4946650"/>
          </a:xfrm>
          <a:prstGeom prst="roundRect">
            <a:avLst>
              <a:gd name="adj" fmla="val 1476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1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Server ×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× D4as_v5 Linux (4 vCPU · 16 GB RAM) + 128 GB SSD disk each — the two AKS worker nodes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6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$334.56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for both servers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24548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506984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245484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2286635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B4ms burstable (4 vCPU/16 GB)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$308.06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D4as_v5 AMD (4 vCPU/16 GB)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$315.36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D4s_v5 Intel (4 vCPU/16 GB)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$350.40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D4as_v5 · 1-year reserved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$194.50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D4as_v5 · 3-year reserved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$124.56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611759"/>
            <a:ext cx="6462014" cy="49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 for 2 servers, compute only. OS disks (2 × Standard SSD E10) add $19.20/month and are included in the big number.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2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2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 (AKS)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Kubernetes Service control plane managing the 2 servers. Nodes are billed under ‘Azure Server’.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6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$73.00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Standard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169262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3744772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1692628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1524423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Free tier (no uptime SLA)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tier (99.9% SLA)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$73.00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Automatic tier (hosted control plane)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$116.80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3849546"/>
            <a:ext cx="6462014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staging/dev on the Free tier; use Standard for production.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2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3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images for every service. Container runtime on AKS is free; images are stored in Azure Container Registry.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7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$5.07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ACR Basic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207373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125878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2073734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1905529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runtime on AKS (containerd)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ACR Basic · 10 GB included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$5.07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ACR Standard · 100 GB included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$20.28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Extra image storage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$0.10 / GB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230653"/>
            <a:ext cx="6462014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Desktop licences for developers are not part of infrastructure cost.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2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4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Kafka endpoint on Azure Event Hubs Standard, 2 throughput units (≈ 2 MB/s in, 4 MB/s out).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7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$109.78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Event Hubs 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24548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506984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245484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2286635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Self-hosted Kafka on the 2 servers (disk only)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$19.71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Event Hubs Standard · 2 TU + Kafka endpoint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$109.78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↳ throughput units 2 × $21.90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$43.80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↳ Kafka endpoint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$65.70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Event Hubs Premium · 1 PU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$975.28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611759"/>
            <a:ext cx="6462014" cy="49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Ingress events add $0.028 per million (≈ $0.28 for 10M). Self-hosting is cheapest but uses server RAM and has no high availability on 2 servers.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2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5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Server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SQL Database (SQL Server engine), one database per microservice, sharing a Standard elastic pool.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7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$110.26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elastic pool 50 eDTU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207373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125878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2073734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1905529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× single DB S0 (10 DTU each)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$58.87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Elastic pool Standard 50 eDTU, 50 GB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$110.26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× single DB S1 (20 DTU each)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$117.73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Elastic pool Standard 100 eDTU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$220.52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230653"/>
            <a:ext cx="6462014" cy="49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Backups, patching and high availability are included. Up to 100 databases fit in one pool.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2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6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68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87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Standard Load Balancer with one static public IP in front of the AKS ingress controller.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11698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919837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$22.40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634070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Standard LB + 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0"/>
            <a:ext cx="0" cy="207373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125878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4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0"/>
            <a:ext cx="0" cy="2073734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08"/>
          <a:ext cx="6029396" cy="1905529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LB · first 5 rules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$18.25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processed · ~100 GB × $0.005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Static public IP (Standard)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$3.65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$22.40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230656"/>
            <a:ext cx="6462014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 rules above 5 cost $0.01/hour each ($7.30/month).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5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7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71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.NET 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592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 microservices in .NET 10 (ASP.NET Core) running in Linux containers.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428137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636273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350506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free and open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3"/>
            <a:ext cx="0" cy="169262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3744775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7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3"/>
            <a:ext cx="0" cy="1692628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12"/>
          <a:ext cx="6029396" cy="1524423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.NET 10 runtime &amp; SDK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Linux container hosting (no licence)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 server on Windows instead (each)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+$134.32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3849545"/>
            <a:ext cx="6462014" cy="49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.NET on Linux avoids Windows licence cost: D4as_v5 Windows is $0.40/h vs $0.216/h Linux.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5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8 OF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71"/>
            <a:ext cx="10883392" cy="57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Angular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2259"/>
            <a:ext cx="4055110" cy="592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Angular front-end (latest) built to static files and hosted on Azure Static Web Apps.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428137"/>
            <a:ext cx="3924300" cy="1384759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289" y="2636273"/>
            <a:ext cx="3613263" cy="70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$9.00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7289" y="3350506"/>
            <a:ext cx="3613263" cy="27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/month · Static Web Apps 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5400" y="1702259"/>
            <a:ext cx="6462014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compared (monthly)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76025" y="2055323"/>
            <a:ext cx="0" cy="2327981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5400" y="4380128"/>
            <a:ext cx="6273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5400" y="2060967"/>
            <a:ext cx="6273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044" y="2055323"/>
            <a:ext cx="0" cy="2327981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989" y="2142812"/>
          <a:ext cx="6029396" cy="2159776"/>
        </p:xfrm>
        <a:graphic>
          <a:graphicData uri="http://schemas.openxmlformats.org/drawingml/2006/table">
            <a:tbl>
              <a:tblPr/>
              <a:tblGrid>
                <a:gridCol w="4341165"/>
                <a:gridCol w="168823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Angular framework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Static Web Apps Free (no SLA, hobby)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35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Static Web Apps Standard · custom domain + SLA 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258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$9.00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 from an AKS pod instead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 extra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05400" y="4484898"/>
            <a:ext cx="6462014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Web Apps Standard price from Microsoft’s published plan (per app).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16935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= recommended · 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71"/>
            <a:ext cx="10883392" cy="517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infrastructure cost per month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515225" y="1640805"/>
            <a:ext cx="0" cy="3979263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5616893"/>
            <a:ext cx="6705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646450"/>
            <a:ext cx="67056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444" y="1640805"/>
            <a:ext cx="0" cy="3979263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389" y="1728294"/>
          <a:ext cx="6461196" cy="3811058"/>
        </p:xfrm>
        <a:graphic>
          <a:graphicData uri="http://schemas.openxmlformats.org/drawingml/2006/table">
            <a:tbl>
              <a:tblPr/>
              <a:tblGrid>
                <a:gridCol w="4522837"/>
                <a:gridCol w="1938359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 (recommended setup)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Azure Server ×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$334.56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Kubernetes (AKS)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$73.00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$5.07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Kafka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$109.78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Server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$110.26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Load Balancer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$22.40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.NET 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Angular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$9.00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per month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$664.07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829550" y="1647155"/>
            <a:ext cx="3543300" cy="1460641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C258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2289" y="1829898"/>
            <a:ext cx="3273157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Recommended, pay-as-you-go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12289" y="2064562"/>
            <a:ext cx="3273157" cy="65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2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$664.07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012289" y="2690391"/>
            <a:ext cx="3273157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$7,968.84 per year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26375" y="3244323"/>
            <a:ext cx="3549650" cy="1296988"/>
          </a:xfrm>
          <a:prstGeom prst="roundRect">
            <a:avLst>
              <a:gd name="adj" fmla="val 758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5516" y="3423462"/>
            <a:ext cx="3287110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1-year reserved servers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5516" y="3658133"/>
            <a:ext cx="3287110" cy="494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$543.21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005516" y="4127500"/>
            <a:ext cx="3287110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$6,518.52 per year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26375" y="4674660"/>
            <a:ext cx="3549650" cy="1062320"/>
          </a:xfrm>
          <a:prstGeom prst="roundRect">
            <a:avLst>
              <a:gd name="adj" fmla="val 92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5516" y="4853800"/>
            <a:ext cx="3287110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Economy setup (next slide)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05516" y="5088471"/>
            <a:ext cx="3287110" cy="494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$433.31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12800" y="5982264"/>
            <a:ext cx="10883392" cy="49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included: monitoring, Key Vault, blob storage, API Management, AI usage, bandwidth over 100 GB — typically +$30–60/month at launch.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5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20471"/>
            <a:ext cx="10883392" cy="517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Economy setup: lowest possible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69225" y="1640805"/>
            <a:ext cx="0" cy="3979263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5616893"/>
            <a:ext cx="695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646450"/>
            <a:ext cx="69596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444" y="1640805"/>
            <a:ext cx="0" cy="3979263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389" y="1728294"/>
          <a:ext cx="6715196" cy="3811058"/>
        </p:xfrm>
        <a:graphic>
          <a:graphicData uri="http://schemas.openxmlformats.org/drawingml/2006/table">
            <a:tbl>
              <a:tblPr/>
              <a:tblGrid>
                <a:gridCol w="2283166"/>
                <a:gridCol w="2686078"/>
                <a:gridCol w="1745951"/>
              </a:tblGrid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Economy choice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Azure Server ×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× B4ms + disks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$327.26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Kubernetes (AKS)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Free tier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ACR Basic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$5.07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Kafka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Self-hosted on servers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$19.71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Server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× S0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$58.87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Load Balancer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+ IP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$22.40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.NET 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Linux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Angular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SWA Free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$0.00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10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$433.31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77200" y="1640805"/>
            <a:ext cx="3302000" cy="2432297"/>
          </a:xfrm>
          <a:prstGeom prst="roundRect">
            <a:avLst>
              <a:gd name="adj" fmla="val 4177"/>
            </a:avLst>
          </a:prstGeom>
          <a:solidFill>
            <a:srgbClr val="E8EEF6"/>
          </a:solidFill>
          <a:ln/>
        </p:spPr>
      </p:sp>
      <p:sp>
        <p:nvSpPr>
          <p:cNvPr id="10" name="Text 7"/>
          <p:cNvSpPr/>
          <p:nvPr/>
        </p:nvSpPr>
        <p:spPr>
          <a:xfrm>
            <a:off x="8305800" y="1869405"/>
            <a:ext cx="2930144" cy="293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05800" y="2264625"/>
            <a:ext cx="2930144" cy="160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Saves $230.76/month, but: no Kubernetes uptime SLA, Kafka runs on our own servers without failover, burstable CPU, and small databases. Good for pilot / demo customers only.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16935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list prices: Azure Retail Prices API · Southeast Asia (Singapore) · USD · 2 Oct 2026 · 730 h/month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B4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1471"/>
            <a:ext cx="10883392" cy="1131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8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on the recommended setup at about $664.07/month, then reserve the servers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94350" y="2661853"/>
            <a:ext cx="10894222" cy="1455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2450" indent="-272450">
              <a:lnSpc>
                <a:spcPts val="25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9D4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economy setup only for staging / demo</a:t>
            </a:r>
            <a:endParaRPr lang="en-US" sz="1600" dirty="0"/>
          </a:p>
          <a:p>
            <a:pPr algn="l" marL="272450" indent="-272450">
              <a:lnSpc>
                <a:spcPts val="25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9D4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Buy a 1-year server reservation after 60–90 days → about $543.21/month</a:t>
            </a:r>
            <a:endParaRPr lang="en-US" sz="1600" dirty="0"/>
          </a:p>
          <a:p>
            <a:pPr algn="l" marL="272450" indent="-272450">
              <a:lnSpc>
                <a:spcPts val="25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9D4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3rd server (+$167.28/month) when usage grows</a:t>
            </a:r>
            <a:endParaRPr lang="en-US" sz="1600" dirty="0"/>
          </a:p>
          <a:p>
            <a:pPr algn="l" marL="272450" indent="-272450">
              <a:lnSpc>
                <a:spcPts val="25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C9D4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Prices are indicative; final quote from the Azure Pricing Calculator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LA CRM – Azure Infrastructure Costing">
  <a:themeElements>
    <a:clrScheme name="AILA CRM – Azure Infrastructure Costing">
      <a:dk1>
        <a:srgbClr val="14213D"/>
      </a:dk1>
      <a:lt1>
        <a:srgbClr val="F6F8FB"/>
      </a:lt1>
      <a:dk2>
        <a:srgbClr val="4D576D"/>
      </a:dk2>
      <a:lt2>
        <a:srgbClr val="DFE3E8"/>
      </a:lt2>
      <a:accent1>
        <a:srgbClr val="1F5FCF"/>
      </a:accent1>
      <a:accent2>
        <a:srgbClr val="C2581A"/>
      </a:accent2>
      <a:accent3>
        <a:srgbClr val="8FB4F2"/>
      </a:accent3>
      <a:accent4>
        <a:srgbClr val="8FA0BD"/>
      </a:accent4>
      <a:accent5>
        <a:srgbClr val="4A5568"/>
      </a:accent5>
      <a:accent6>
        <a:srgbClr val="BFCBE0"/>
      </a:accent6>
      <a:hlink>
        <a:srgbClr val="0563C1"/>
      </a:hlink>
      <a:folHlink>
        <a:srgbClr val="954F72"/>
      </a:folHlink>
    </a:clrScheme>
    <a:fontScheme name="AILA CRM – Azure Infrastructure Costing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AILA CRM – Azure Infrastructure Costing</dc:title>
  <dc:subject/>
  <dc:creator/>
  <cp:lastModifiedBy/>
  <cp:revision>1</cp:revision>
  <dcterms:created xsi:type="dcterms:W3CDTF">2026-10-01T18:28:00Z</dcterms:created>
  <dcterms:modified xsi:type="dcterms:W3CDTF">2026-10-01T18:28:00Z</dcterms:modified>
</cp:coreProperties>
</file>