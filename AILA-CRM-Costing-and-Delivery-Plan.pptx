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b623d57-f3d4-560f-8261-7b54d66de152}">
          <p14:sldIdLst>
            <p14:sldId id="256"/>
            <p14:sldId id="257"/>
          </p14:sldIdLst>
        </p14:section>
        <p14:section name="Costing" id="{1079f5a7-083b-2e14-99ca-ef88f33800d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elivery plan" id="{bc7514ef-c831-b063-90d3-ba4b7181e916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Backend</c:v>
                </c:pt>
              </c:strCache>
            </c:strRef>
          </c:tx>
          <c:spPr>
            <a:solidFill>
              <a:srgbClr val="0B4F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Identity, Workspace &amp; Team</c:v>
                  </c:pt>
                  <c:pt idx="1">
                    <c:v>Contacts</c:v>
                  </c:pt>
                  <c:pt idx="2">
                    <c:v>Companies</c:v>
                  </c:pt>
                  <c:pt idx="3">
                    <c:v>Pipeline &amp; Deals</c:v>
                  </c:pt>
                  <c:pt idx="4">
                    <c:v>Follow-up (activities &amp; tasks)</c:v>
                  </c:pt>
                  <c:pt idx="5">
                    <c:v>Home Dashboard</c:v>
                  </c:pt>
                  <c:pt idx="6">
                    <c:v>CSV export</c:v>
                  </c:pt>
                  <c:pt idx="7">
                    <c:v>AI features</c:v>
                  </c:pt>
                  <c:pt idx="8">
                    <c:v>Server setup &amp; go-live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</c:v>
                </c:pt>
                <c:pt idx="1">
                  <c:v>51</c:v>
                </c:pt>
                <c:pt idx="2">
                  <c:v>13</c:v>
                </c:pt>
                <c:pt idx="3">
                  <c:v>27</c:v>
                </c:pt>
                <c:pt idx="4">
                  <c:v>26</c:v>
                </c:pt>
                <c:pt idx="5">
                  <c:v>11</c:v>
                </c:pt>
                <c:pt idx="6">
                  <c:v>5</c:v>
                </c:pt>
                <c:pt idx="7">
                  <c:v>57</c:v>
                </c:pt>
                <c:pt idx="8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Frontend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Identity, Workspace &amp; Team</c:v>
                  </c:pt>
                  <c:pt idx="1">
                    <c:v>Contacts</c:v>
                  </c:pt>
                  <c:pt idx="2">
                    <c:v>Companies</c:v>
                  </c:pt>
                  <c:pt idx="3">
                    <c:v>Pipeline &amp; Deals</c:v>
                  </c:pt>
                  <c:pt idx="4">
                    <c:v>Follow-up (activities &amp; tasks)</c:v>
                  </c:pt>
                  <c:pt idx="5">
                    <c:v>Home Dashboard</c:v>
                  </c:pt>
                  <c:pt idx="6">
                    <c:v>CSV export</c:v>
                  </c:pt>
                  <c:pt idx="7">
                    <c:v>AI features</c:v>
                  </c:pt>
                  <c:pt idx="8">
                    <c:v>Server setup &amp; go-live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22</c:v>
                </c:pt>
                <c:pt idx="1">
                  <c:v>47</c:v>
                </c:pt>
                <c:pt idx="2">
                  <c:v>16</c:v>
                </c:pt>
                <c:pt idx="3">
                  <c:v>35</c:v>
                </c:pt>
                <c:pt idx="4">
                  <c:v>32</c:v>
                </c:pt>
                <c:pt idx="5">
                  <c:v>9</c:v>
                </c:pt>
                <c:pt idx="6">
                  <c:v>3</c:v>
                </c:pt>
                <c:pt idx="7">
                  <c:v>23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QA</c:v>
                </c:pt>
              </c:strCache>
            </c:strRef>
          </c:tx>
          <c:spPr>
            <a:solidFill>
              <a:srgbClr val="E08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Identity, Workspace &amp; Team</c:v>
                  </c:pt>
                  <c:pt idx="1">
                    <c:v>Contacts</c:v>
                  </c:pt>
                  <c:pt idx="2">
                    <c:v>Companies</c:v>
                  </c:pt>
                  <c:pt idx="3">
                    <c:v>Pipeline &amp; Deals</c:v>
                  </c:pt>
                  <c:pt idx="4">
                    <c:v>Follow-up (activities &amp; tasks)</c:v>
                  </c:pt>
                  <c:pt idx="5">
                    <c:v>Home Dashboard</c:v>
                  </c:pt>
                  <c:pt idx="6">
                    <c:v>CSV export</c:v>
                  </c:pt>
                  <c:pt idx="7">
                    <c:v>AI features</c:v>
                  </c:pt>
                  <c:pt idx="8">
                    <c:v>Server setup &amp; go-live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11</c:v>
                </c:pt>
                <c:pt idx="1">
                  <c:v>17</c:v>
                </c:pt>
                <c:pt idx="2">
                  <c:v>5</c:v>
                </c:pt>
                <c:pt idx="3">
                  <c:v>11</c:v>
                </c:pt>
                <c:pt idx="4">
                  <c:v>9</c:v>
                </c:pt>
                <c:pt idx="5">
                  <c:v>4</c:v>
                </c:pt>
                <c:pt idx="6">
                  <c:v>1</c:v>
                </c:pt>
                <c:pt idx="7">
                  <c:v>17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Ready-to-sale v1. Monthly running costs for infrastructure and developer tooling, then effort by module and the delivery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microservices, Kafka, Docker or load balancer. Everything runs on one Azure B-series Linux server: Nginx serves the Angular build and proxies the .NET 10 API; SQL Server Express runs on the same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AILA CRM · Ready-to-sale v1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AILA CRM: infrastructure costing and delivery plan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Monolithic .NET 10 + Angular application on one Azure server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server runs the whole application</a:t>
            </a:r>
            <a:endParaRPr lang="en-US" sz="3000" dirty="0"/>
          </a:p>
        </p:txBody>
      </p:sp>
      <p:sp>
        <p:nvSpPr>
          <p:cNvPr id="3" name="Client"/>
          <p:cNvSpPr/>
          <p:nvPr/>
        </p:nvSpPr>
        <p:spPr>
          <a:xfrm>
            <a:off x="457200" y="18745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Browser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Web / mobile web</a:t>
            </a:r>
            <a:endParaRPr lang="en-US" sz="1100" dirty="0"/>
          </a:p>
        </p:txBody>
      </p:sp>
      <p:sp>
        <p:nvSpPr>
          <p:cNvPr id="6" name="Arrow client to server"/>
          <p:cNvSpPr/>
          <p:nvPr/>
        </p:nvSpPr>
        <p:spPr>
          <a:xfrm>
            <a:off x="1737360" y="2377440"/>
            <a:ext cx="5029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691640" y="21031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HTTPS</a:t>
            </a:r>
            <a:endParaRPr lang="en-US" sz="1000" dirty="0"/>
          </a:p>
        </p:txBody>
      </p:sp>
      <p:sp>
        <p:nvSpPr>
          <p:cNvPr id="8" name="Azure server"/>
          <p:cNvSpPr/>
          <p:nvPr/>
        </p:nvSpPr>
        <p:spPr>
          <a:xfrm>
            <a:off x="2286000" y="1097280"/>
            <a:ext cx="420624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2468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Azure server · B2ms Linux (2 vCPU, 8 GB RAM)</a:t>
            </a:r>
            <a:endParaRPr lang="en-US" sz="1300" dirty="0"/>
          </a:p>
        </p:txBody>
      </p:sp>
      <p:sp>
        <p:nvSpPr>
          <p:cNvPr id="10" name="Nginx web server"/>
          <p:cNvSpPr/>
          <p:nvPr/>
        </p:nvSpPr>
        <p:spPr>
          <a:xfrm>
            <a:off x="2514600" y="160020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Nginx web server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84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Serves the Angular app, free SSL certificate, forwards API calls</a:t>
            </a:r>
            <a:endParaRPr lang="en-US" sz="1100" dirty="0"/>
          </a:p>
        </p:txBody>
      </p:sp>
      <p:sp>
        <p:nvSpPr>
          <p:cNvPr id="13" name=".NET 10 monolith (ASP.NET Core API)"/>
          <p:cNvSpPr/>
          <p:nvPr/>
        </p:nvSpPr>
        <p:spPr>
          <a:xfrm>
            <a:off x="2514600" y="2487168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0B4F4E"/>
          </a:solidFill>
          <a:ln w="12700">
            <a:solidFill>
              <a:srgbClr val="0B4F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2578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.NET 10 monolith (ASP.NET Core API)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87121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Modules: Identity · Contacts · Companies · Pipeline · Follow-up · Dashboard ·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CQRS inside one codebase, background jobs</a:t>
            </a:r>
            <a:endParaRPr lang="en-US" sz="1100" dirty="0"/>
          </a:p>
        </p:txBody>
      </p:sp>
      <p:sp>
        <p:nvSpPr>
          <p:cNvPr id="16" name="SQL Server Express"/>
          <p:cNvSpPr/>
          <p:nvPr/>
        </p:nvSpPr>
        <p:spPr>
          <a:xfrm>
            <a:off x="2514600" y="3648456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 Server Express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0325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One database on the same server</a:t>
            </a:r>
            <a:endParaRPr lang="en-US" sz="1100" dirty="0"/>
          </a:p>
        </p:txBody>
      </p:sp>
      <p:sp>
        <p:nvSpPr>
          <p:cNvPr id="19" name="Backup"/>
          <p:cNvSpPr/>
          <p:nvPr/>
        </p:nvSpPr>
        <p:spPr>
          <a:xfrm>
            <a:off x="6812280" y="11887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Azure Backup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572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Daily server backup</a:t>
            </a:r>
            <a:endParaRPr lang="en-US" sz="1050" dirty="0"/>
          </a:p>
        </p:txBody>
      </p:sp>
      <p:sp>
        <p:nvSpPr>
          <p:cNvPr id="22" name="Backup link"/>
          <p:cNvSpPr/>
          <p:nvPr/>
        </p:nvSpPr>
        <p:spPr>
          <a:xfrm>
            <a:off x="6492240" y="1618488"/>
            <a:ext cx="301752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3" name="OpenAI"/>
          <p:cNvSpPr/>
          <p:nvPr/>
        </p:nvSpPr>
        <p:spPr>
          <a:xfrm>
            <a:off x="6812280" y="22860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Azure OpenAI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6700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AI features, pay per use</a:t>
            </a:r>
            <a:endParaRPr lang="en-US" sz="1050" dirty="0"/>
          </a:p>
        </p:txBody>
      </p:sp>
      <p:sp>
        <p:nvSpPr>
          <p:cNvPr id="26" name="OpenAI link"/>
          <p:cNvSpPr/>
          <p:nvPr/>
        </p:nvSpPr>
        <p:spPr>
          <a:xfrm>
            <a:off x="6492240" y="2715768"/>
            <a:ext cx="301752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7" name="CICD"/>
          <p:cNvSpPr/>
          <p:nvPr/>
        </p:nvSpPr>
        <p:spPr>
          <a:xfrm>
            <a:off x="6812280" y="33832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GitHub Actions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37673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Build and deploy</a:t>
            </a:r>
            <a:endParaRPr lang="en-US" sz="1050" dirty="0"/>
          </a:p>
        </p:txBody>
      </p:sp>
      <p:sp>
        <p:nvSpPr>
          <p:cNvPr id="30" name="CICD link"/>
          <p:cNvSpPr/>
          <p:nvPr/>
        </p:nvSpPr>
        <p:spPr>
          <a:xfrm>
            <a:off x="6492240" y="3813048"/>
            <a:ext cx="301752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costing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Azure infrastructure, then developer tooling as a separate cost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infrastructure costs about $102 a month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6060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Choice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Monthly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Azure server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B2ms Linux, 2 vCPU, 8 GB RAM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$77.38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Server disk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128 GB Standard SSD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$9.60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Static public IP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Standard, 1 address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$3.65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SQL Server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Express edition on the same server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$0.00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Backup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Azure Backup, 1 server + ~64 GB storage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$11.43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.NET 10, Angular, Nginx, SSL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Open source / free certificate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$0.00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</a:rPr>
                        <a:t>Infrastructure total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</a:rPr>
                        <a:t>$102.06</a:t>
                      </a:r>
                      <a:endParaRPr lang="en-US" sz="12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Infra callout"/>
          <p:cNvSpPr/>
          <p:nvPr/>
        </p:nvSpPr>
        <p:spPr>
          <a:xfrm>
            <a:off x="6172200" y="10972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B4F4E"/>
          </a:solidFill>
          <a:ln w="12700">
            <a:solidFill>
              <a:srgbClr val="0B4F4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234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$102.06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Azure infrastructure per month</a:t>
            </a:r>
            <a:endParaRPr lang="en-US" sz="1300" dirty="0"/>
          </a:p>
        </p:txBody>
      </p:sp>
      <p:sp>
        <p:nvSpPr>
          <p:cNvPr id="7" name="Yearly callout"/>
          <p:cNvSpPr/>
          <p:nvPr/>
        </p:nvSpPr>
        <p:spPr>
          <a:xfrm>
            <a:off x="6172200" y="2834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$1,224.72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Azure infrastructure per year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Domain name is costed separately. Azure list prices, Southeast Asia (Singapore), USD, Azure Retail Prices API, Oct 2026 · 730 hours/month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B2ms is the right size for one server</a:t>
            </a:r>
            <a:endParaRPr lang="en-US" sz="3000" dirty="0"/>
          </a:p>
        </p:txBody>
      </p:sp>
      <p:sp>
        <p:nvSpPr>
          <p:cNvPr id="3" name="Server B2s"/>
          <p:cNvSpPr/>
          <p:nvPr/>
        </p:nvSpPr>
        <p:spPr>
          <a:xfrm>
            <a:off x="457200" y="1188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OPTION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2 vCPU · 4 GB RAM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$38.54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per month, Linux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83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 little memory for .NET, SQL Server and Nginx together</a:t>
            </a:r>
            <a:endParaRPr lang="en-US" sz="1200" dirty="0"/>
          </a:p>
        </p:txBody>
      </p:sp>
      <p:sp>
        <p:nvSpPr>
          <p:cNvPr id="10" name="Server B2ms"/>
          <p:cNvSpPr/>
          <p:nvPr/>
        </p:nvSpPr>
        <p:spPr>
          <a:xfrm>
            <a:off x="3273552" y="1188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B4F4E"/>
          </a:solidFill>
          <a:ln w="12700">
            <a:solidFill>
              <a:srgbClr val="0B4F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RECOMMENDED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B2ms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 vCPU · 8 GB RAM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$77.38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per month, Linux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3383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Recommended. Room for the API, database and web server</a:t>
            </a:r>
            <a:endParaRPr lang="en-US" sz="1200" dirty="0"/>
          </a:p>
        </p:txBody>
      </p:sp>
      <p:sp>
        <p:nvSpPr>
          <p:cNvPr id="17" name="Server B4ms"/>
          <p:cNvSpPr/>
          <p:nvPr/>
        </p:nvSpPr>
        <p:spPr>
          <a:xfrm>
            <a:off x="6089904" y="1188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18504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OPTION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18504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B4ms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vCPU · 16 GB RAM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$154.03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per month, Linux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18504" y="3383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Upgrade path when customer numbers grow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Server size can be changed later in minutes, with a short restart. Azure list prices, Southeast Asia (Singapore), USD, Azure Retail Prices API, Oct 2026 · 730 hours/month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Express on the server costs nothing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9184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Monthly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</a:rPr>
                        <a:t>SQL Server Express on the B2ms server (recommended)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</a:rPr>
                        <a:t>10 GB per database, uses server memory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</a:rPr>
                        <a:t>$0.00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Azure SQL Database Basic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5 DTU, 2 GB, managed backups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$4.90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Azure SQL Database Standard S0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10 DTU, 250 GB, managed backups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$14.72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QL note"/>
          <p:cNvSpPr/>
          <p:nvPr/>
        </p:nvSpPr>
        <p:spPr>
          <a:xfrm>
            <a:off x="457200" y="31546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3291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When to move: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the database nears 10 GB or the server runs short of memory, move to Azure SQL S0. The application code does not change, only the connection string.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Azure list prices, Southeast Asia (Singapore), USD, Azure Retail Prices API, Oct 2026 · 730 hours/month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software stack adds no licence cost</a:t>
            </a:r>
            <a:endParaRPr lang="en-US" sz="3000" dirty="0"/>
          </a:p>
        </p:txBody>
      </p:sp>
      <p:sp>
        <p:nvSpPr>
          <p:cNvPr id="3" name="Free .NET 10"/>
          <p:cNvSpPr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Badge .NET 10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$0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71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.NET 10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1907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Runtime and SDK are free and open source; the API runs on Linux with no Windows licence</a:t>
            </a:r>
            <a:endParaRPr lang="en-US" sz="1200" dirty="0"/>
          </a:p>
        </p:txBody>
      </p:sp>
      <p:sp>
        <p:nvSpPr>
          <p:cNvPr id="8" name="Free Angular"/>
          <p:cNvSpPr/>
          <p:nvPr/>
        </p:nvSpPr>
        <p:spPr>
          <a:xfrm>
            <a:off x="466344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Badge Angular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$0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371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Angular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71907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Built to static files and served by Nginx on the same server; no separate hosting fee</a:t>
            </a:r>
            <a:endParaRPr lang="en-US" sz="1200" dirty="0"/>
          </a:p>
        </p:txBody>
      </p:sp>
      <p:sp>
        <p:nvSpPr>
          <p:cNvPr id="13" name="Free Nginx + SSL"/>
          <p:cNvSpPr/>
          <p:nvPr/>
        </p:nvSpPr>
        <p:spPr>
          <a:xfrm>
            <a:off x="45720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" name="Badge Nginx + SSL"/>
          <p:cNvSpPr/>
          <p:nvPr/>
        </p:nvSpPr>
        <p:spPr>
          <a:xfrm>
            <a:off x="685800" y="2926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$0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Nginx + SSL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1821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Free web server; Let's Encrypt certificate renews automatically</a:t>
            </a:r>
            <a:endParaRPr lang="en-US" sz="1200" dirty="0"/>
          </a:p>
        </p:txBody>
      </p:sp>
      <p:sp>
        <p:nvSpPr>
          <p:cNvPr id="18" name="Free Bandwidth"/>
          <p:cNvSpPr/>
          <p:nvPr/>
        </p:nvSpPr>
        <p:spPr>
          <a:xfrm>
            <a:off x="466344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9" name="Badge Bandwidth"/>
          <p:cNvSpPr/>
          <p:nvPr/>
        </p:nvSpPr>
        <p:spPr>
          <a:xfrm>
            <a:off x="4892040" y="2926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$0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Bandwidth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1821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First 100 GB of outbound data each month is free on Azure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Domain name is not included here; it is costed separately.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Max is a separate cost per developer</a:t>
            </a:r>
            <a:endParaRPr lang="en-US" sz="3000" dirty="0"/>
          </a:p>
        </p:txBody>
      </p:sp>
      <p:sp>
        <p:nvSpPr>
          <p:cNvPr id="3" name="Claude card"/>
          <p:cNvSpPr/>
          <p:nvPr/>
        </p:nvSpPr>
        <p:spPr>
          <a:xfrm>
            <a:off x="457200" y="118872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0B4F4E"/>
          </a:solidFill>
          <a:ln w="12700">
            <a:solidFill>
              <a:srgbClr val="0B4F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per developer per month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Claude Max plan (5x usage tier), includes Claude Code for development work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188720"/>
          <a:ext cx="4663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Developers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Per month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Per year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$100.00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$1,200.00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$200.00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$2,400.00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$300.00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$3,600.00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$400.00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$4,800.00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$500.00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$6,000.00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023360" y="3657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Billed per developer, separately from Azure infrastructure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claude.com/pricing (Max plan from $100/month), checked Oct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plan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Effort by module and the workflow from start to ready-to-sell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583 hours from start to ready-to-sell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ffort summary"/>
          <p:cNvSpPr/>
          <p:nvPr/>
        </p:nvSpPr>
        <p:spPr>
          <a:xfrm>
            <a:off x="6035040" y="1143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Feature development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3258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486 h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Server setup &amp; go-live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17830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 h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Project management (8%)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2402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40 h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Contingency (10%)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6974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49 h</a:t>
            </a:r>
            <a:endParaRPr lang="en-US" sz="1300" dirty="0"/>
          </a:p>
        </p:txBody>
      </p:sp>
      <p:sp>
        <p:nvSpPr>
          <p:cNvPr id="13" name="Total rule"/>
          <p:cNvSpPr/>
          <p:nvPr/>
        </p:nvSpPr>
        <p:spPr>
          <a:xfrm>
            <a:off x="6217920" y="3200400"/>
            <a:ext cx="23317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Total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2461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583 h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Backend 232 · Frontend 187 · QA 75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from requirements to ready-to-sell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14300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Step badge 1"/>
          <p:cNvSpPr/>
          <p:nvPr/>
        </p:nvSpPr>
        <p:spPr>
          <a:xfrm>
            <a:off x="621792" y="1298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Identity &amp; Team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4650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Sign-up, login, workspace, Admin vs Member, invites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9202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h</a:t>
            </a:r>
            <a:endParaRPr lang="en-US" sz="1800" dirty="0"/>
          </a:p>
        </p:txBody>
      </p:sp>
      <p:sp>
        <p:nvSpPr>
          <p:cNvPr id="9" name="Flow 1"/>
          <p:cNvSpPr/>
          <p:nvPr/>
        </p:nvSpPr>
        <p:spPr>
          <a:xfrm>
            <a:off x="3008376" y="1805940"/>
            <a:ext cx="26974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Step 2"/>
          <p:cNvSpPr/>
          <p:nvPr/>
        </p:nvSpPr>
        <p:spPr>
          <a:xfrm>
            <a:off x="3314700" y="114300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Step badge 2"/>
          <p:cNvSpPr/>
          <p:nvPr/>
        </p:nvSpPr>
        <p:spPr>
          <a:xfrm>
            <a:off x="3479292" y="1298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9292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73068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Contacts &amp; Companies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97580" y="174650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List, create, import, scan capture, enrich, dedupe, companies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06340" y="19202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 h</a:t>
            </a:r>
            <a:endParaRPr lang="en-US" sz="1800" dirty="0"/>
          </a:p>
        </p:txBody>
      </p:sp>
      <p:sp>
        <p:nvSpPr>
          <p:cNvPr id="16" name="Flow 2"/>
          <p:cNvSpPr/>
          <p:nvPr/>
        </p:nvSpPr>
        <p:spPr>
          <a:xfrm>
            <a:off x="5865876" y="1805940"/>
            <a:ext cx="26974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tep 3"/>
          <p:cNvSpPr/>
          <p:nvPr/>
        </p:nvSpPr>
        <p:spPr>
          <a:xfrm>
            <a:off x="6172200" y="114300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8" name="Step badge 3"/>
          <p:cNvSpPr/>
          <p:nvPr/>
        </p:nvSpPr>
        <p:spPr>
          <a:xfrm>
            <a:off x="6336792" y="1298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6792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30568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Pipeline &amp; Follow-up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74650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Deals, Kanban, stages, won/lost, notes, calls, tasks, timeline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19202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h</a:t>
            </a:r>
            <a:endParaRPr lang="en-US" sz="1800" dirty="0"/>
          </a:p>
        </p:txBody>
      </p:sp>
      <p:sp>
        <p:nvSpPr>
          <p:cNvPr id="23" name="Step 4"/>
          <p:cNvSpPr/>
          <p:nvPr/>
        </p:nvSpPr>
        <p:spPr>
          <a:xfrm>
            <a:off x="457200" y="28803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4" name="Step badge 4"/>
          <p:cNvSpPr/>
          <p:nvPr/>
        </p:nvSpPr>
        <p:spPr>
          <a:xfrm>
            <a:off x="621792" y="30358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30358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 &amp; Export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4838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New leads, pipeline value, tasks due, CSV export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148840" y="36576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h</a:t>
            </a:r>
            <a:endParaRPr lang="en-US" sz="1800" dirty="0"/>
          </a:p>
        </p:txBody>
      </p:sp>
      <p:sp>
        <p:nvSpPr>
          <p:cNvPr id="29" name="Flow 4"/>
          <p:cNvSpPr/>
          <p:nvPr/>
        </p:nvSpPr>
        <p:spPr>
          <a:xfrm>
            <a:off x="3008376" y="3543300"/>
            <a:ext cx="26974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0" name="Step 5"/>
          <p:cNvSpPr/>
          <p:nvPr/>
        </p:nvSpPr>
        <p:spPr>
          <a:xfrm>
            <a:off x="3314700" y="28803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31" name="Step badge 5"/>
          <p:cNvSpPr/>
          <p:nvPr/>
        </p:nvSpPr>
        <p:spPr>
          <a:xfrm>
            <a:off x="3479292" y="30358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7929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973068" y="30358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features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497580" y="34838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Capture AI, email draft, assistant chatbot, prompted reports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006340" y="36576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h</a:t>
            </a:r>
            <a:endParaRPr lang="en-US" sz="1800" dirty="0"/>
          </a:p>
        </p:txBody>
      </p:sp>
      <p:sp>
        <p:nvSpPr>
          <p:cNvPr id="36" name="Flow 5"/>
          <p:cNvSpPr/>
          <p:nvPr/>
        </p:nvSpPr>
        <p:spPr>
          <a:xfrm>
            <a:off x="5865876" y="3543300"/>
            <a:ext cx="26974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Step 6"/>
          <p:cNvSpPr/>
          <p:nvPr/>
        </p:nvSpPr>
        <p:spPr>
          <a:xfrm>
            <a:off x="6172200" y="28803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0B4F4E"/>
          </a:solidFill>
          <a:ln w="12700">
            <a:solidFill>
              <a:srgbClr val="0B4F4E"/>
            </a:solidFill>
            <a:prstDash val="solid"/>
          </a:ln>
        </p:spPr>
      </p:sp>
      <p:sp>
        <p:nvSpPr>
          <p:cNvPr id="38" name="Step badge 6"/>
          <p:cNvSpPr/>
          <p:nvPr/>
        </p:nvSpPr>
        <p:spPr>
          <a:xfrm>
            <a:off x="6336792" y="30358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3679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830568" y="30358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Server setup &amp; go-live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355080" y="34838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Azure server, SQL Server, Nginx, SSL, backup, deploy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36576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h</a:t>
            </a:r>
            <a:endParaRPr lang="en-US" sz="1800" dirty="0"/>
          </a:p>
        </p:txBody>
      </p:sp>
      <p:sp>
        <p:nvSpPr>
          <p:cNvPr id="43" name="Wrap a"/>
          <p:cNvSpPr/>
          <p:nvPr/>
        </p:nvSpPr>
        <p:spPr>
          <a:xfrm>
            <a:off x="7429500" y="2496312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44" name="Wrap b"/>
          <p:cNvSpPr/>
          <p:nvPr/>
        </p:nvSpPr>
        <p:spPr>
          <a:xfrm>
            <a:off x="1714500" y="2679192"/>
            <a:ext cx="5715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45" name="Wrap c"/>
          <p:cNvSpPr/>
          <p:nvPr/>
        </p:nvSpPr>
        <p:spPr>
          <a:xfrm>
            <a:off x="1714500" y="2679192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Plus project management 40 h and contingency 49 h = 583 h in total.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$102.06 a month for Azure and 583 hours of effort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One B2ms Azure server with SQL Server Express keeps running costs low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Claude Max is separate: $100 per developer per month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Upgrade to B4ms or Azure SQL S0 only when usage needs it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Not included: domain name, Azure OpenAI usage for AI features, taxes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LA Teal">
  <a:themeElements>
    <a:clrScheme name="AILA Teal">
      <a:dk1>
        <a:srgbClr val="1B2A33"/>
      </a:dk1>
      <a:lt1>
        <a:srgbClr val="FFFFFF"/>
      </a:lt1>
      <a:dk2>
        <a:srgbClr val="0B4F4E"/>
      </a:dk2>
      <a:lt2>
        <a:srgbClr val="EEF4F3"/>
      </a:lt2>
      <a:accent1>
        <a:srgbClr val="0E7C7B"/>
      </a:accent1>
      <a:accent2>
        <a:srgbClr val="E08A2E"/>
      </a:accent2>
      <a:accent3>
        <a:srgbClr val="5B6B75"/>
      </a:accent3>
      <a:accent4>
        <a:srgbClr val="2E9C7A"/>
      </a:accent4>
      <a:accent5>
        <a:srgbClr val="B9D8D5"/>
      </a:accent5>
      <a:accent6>
        <a:srgbClr val="C9473A"/>
      </a:accent6>
      <a:hlink>
        <a:srgbClr val="0E7C7B"/>
      </a:hlink>
      <a:folHlink>
        <a:srgbClr val="5B6B75"/>
      </a:folHlink>
    </a:clrScheme>
    <a:fontScheme name="AILA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AILA CRM – Infrastructure costing and delivery plan</dc:title>
  <dc:subject>PptxGenJS Presentation</dc:subject>
  <dc:creator>AILA CRM</dc:creator>
  <cp:lastModifiedBy>AILA CRM</cp:lastModifiedBy>
  <cp:revision>1</cp:revision>
  <dcterms:created xsi:type="dcterms:W3CDTF">2026-10-09T04:10:26Z</dcterms:created>
  <dcterms:modified xsi:type="dcterms:W3CDTF">2026-10-09T04:10:26Z</dcterms:modified>
</cp:coreProperties>
</file>