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goxzHu5/9y4HPItZznfZUnwI9/Y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" name="Google Shape;1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5" name="Google Shape;38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7" name="Google Shape;43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1" name="Google Shape;47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5" name="Google Shape;50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2" name="Google Shape;54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3" name="Google Shape;573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8" name="Google Shape;588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1" name="Google Shape;611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3" name="Google Shape;643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7" name="Google Shape;667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Layout">
  <p:cSld name="Title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Layout">
  <p:cSld name="Content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3"/>
          <p:cNvSpPr txBox="1"/>
          <p:nvPr>
            <p:ph type="title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4" name="Google Shape;14;p23"/>
          <p:cNvSpPr txBox="1"/>
          <p:nvPr>
            <p:ph idx="12" type="sldNum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/>
          <p:nvPr>
            <p:ph idx="12" type="sldNum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42.png"/><Relationship Id="rId11" Type="http://schemas.openxmlformats.org/officeDocument/2006/relationships/image" Target="../media/image59.png"/><Relationship Id="rId10" Type="http://schemas.openxmlformats.org/officeDocument/2006/relationships/image" Target="../media/image49.png"/><Relationship Id="rId12" Type="http://schemas.openxmlformats.org/officeDocument/2006/relationships/image" Target="../media/image6.png"/><Relationship Id="rId9" Type="http://schemas.openxmlformats.org/officeDocument/2006/relationships/image" Target="../media/image1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30.png"/><Relationship Id="rId8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15.png"/><Relationship Id="rId9" Type="http://schemas.openxmlformats.org/officeDocument/2006/relationships/image" Target="../media/image28.png"/><Relationship Id="rId5" Type="http://schemas.openxmlformats.org/officeDocument/2006/relationships/image" Target="../media/image14.png"/><Relationship Id="rId6" Type="http://schemas.openxmlformats.org/officeDocument/2006/relationships/image" Target="../media/image17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3.png"/><Relationship Id="rId5" Type="http://schemas.openxmlformats.org/officeDocument/2006/relationships/image" Target="../media/image15.png"/><Relationship Id="rId6" Type="http://schemas.openxmlformats.org/officeDocument/2006/relationships/image" Target="../media/image13.png"/><Relationship Id="rId7" Type="http://schemas.openxmlformats.org/officeDocument/2006/relationships/image" Target="../media/image2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2.png"/><Relationship Id="rId4" Type="http://schemas.openxmlformats.org/officeDocument/2006/relationships/image" Target="../media/image35.png"/><Relationship Id="rId9" Type="http://schemas.openxmlformats.org/officeDocument/2006/relationships/image" Target="../media/image53.jpg"/><Relationship Id="rId5" Type="http://schemas.openxmlformats.org/officeDocument/2006/relationships/image" Target="../media/image57.png"/><Relationship Id="rId6" Type="http://schemas.openxmlformats.org/officeDocument/2006/relationships/image" Target="../media/image55.jpg"/><Relationship Id="rId7" Type="http://schemas.openxmlformats.org/officeDocument/2006/relationships/image" Target="../media/image58.png"/><Relationship Id="rId8" Type="http://schemas.openxmlformats.org/officeDocument/2006/relationships/image" Target="../media/image5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3.png"/><Relationship Id="rId4" Type="http://schemas.openxmlformats.org/officeDocument/2006/relationships/image" Target="../media/image38.png"/><Relationship Id="rId5" Type="http://schemas.openxmlformats.org/officeDocument/2006/relationships/image" Target="../media/image4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png"/><Relationship Id="rId4" Type="http://schemas.openxmlformats.org/officeDocument/2006/relationships/image" Target="../media/image42.png"/><Relationship Id="rId11" Type="http://schemas.openxmlformats.org/officeDocument/2006/relationships/image" Target="../media/image59.png"/><Relationship Id="rId10" Type="http://schemas.openxmlformats.org/officeDocument/2006/relationships/image" Target="../media/image49.png"/><Relationship Id="rId12" Type="http://schemas.openxmlformats.org/officeDocument/2006/relationships/image" Target="../media/image6.png"/><Relationship Id="rId9" Type="http://schemas.openxmlformats.org/officeDocument/2006/relationships/image" Target="../media/image1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30.png"/><Relationship Id="rId8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"/>
          <p:cNvSpPr/>
          <p:nvPr/>
        </p:nvSpPr>
        <p:spPr>
          <a:xfrm>
            <a:off x="640080" y="1051560"/>
            <a:ext cx="3931920" cy="292608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AI-Powered Customer Relationship Management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 txBox="1"/>
          <p:nvPr/>
        </p:nvSpPr>
        <p:spPr>
          <a:xfrm>
            <a:off x="640080" y="1554480"/>
            <a:ext cx="40233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1" lang="en-US" sz="5600">
                <a:solidFill>
                  <a:schemeClr val="dk1"/>
                </a:solidFill>
              </a:rPr>
              <a:t>i</a:t>
            </a:r>
            <a:r>
              <a:rPr b="1" i="0" lang="en-US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CRM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 txBox="1"/>
          <p:nvPr/>
        </p:nvSpPr>
        <p:spPr>
          <a:xfrm>
            <a:off x="640080" y="260604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Project Over</a:t>
            </a:r>
            <a:r>
              <a:rPr b="1" lang="en-US" sz="2800">
                <a:solidFill>
                  <a:schemeClr val="accent1"/>
                </a:solidFill>
              </a:rPr>
              <a:t>view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 txBox="1"/>
          <p:nvPr/>
        </p:nvSpPr>
        <p:spPr>
          <a:xfrm>
            <a:off x="640080" y="3291840"/>
            <a:ext cx="40233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One Platform to Manage Leads, Automate Work, and Grow Sales.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5074920" y="777240"/>
            <a:ext cx="3383280" cy="1051560"/>
          </a:xfrm>
          <a:prstGeom prst="roundRect">
            <a:avLst>
              <a:gd fmla="val 12174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5257800" y="1024128"/>
            <a:ext cx="548640" cy="548640"/>
          </a:xfrm>
          <a:prstGeom prst="ellipse">
            <a:avLst/>
          </a:prstGeom>
          <a:solidFill>
            <a:schemeClr val="accent3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IdCard" id="27" name="Google Shape;2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94960" y="116128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1"/>
          <p:cNvSpPr txBox="1"/>
          <p:nvPr/>
        </p:nvSpPr>
        <p:spPr>
          <a:xfrm>
            <a:off x="5971032" y="996696"/>
            <a:ext cx="2377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Lead Qualification &amp; Scoring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 txBox="1"/>
          <p:nvPr/>
        </p:nvSpPr>
        <p:spPr>
          <a:xfrm>
            <a:off x="5971032" y="1344168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Capture, Classify, Enrich, Qualify</a:t>
            </a:r>
            <a:r>
              <a:rPr lang="en-US" sz="1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4754880" y="2011680"/>
            <a:ext cx="3383280" cy="1051560"/>
          </a:xfrm>
          <a:prstGeom prst="roundRect">
            <a:avLst>
              <a:gd fmla="val 12174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1"/>
          <p:cNvSpPr/>
          <p:nvPr/>
        </p:nvSpPr>
        <p:spPr>
          <a:xfrm>
            <a:off x="4937760" y="2258568"/>
            <a:ext cx="548640" cy="54864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FunnelDollar" id="32" name="Google Shape;32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74920" y="239572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1"/>
          <p:cNvSpPr txBox="1"/>
          <p:nvPr/>
        </p:nvSpPr>
        <p:spPr>
          <a:xfrm>
            <a:off x="5650992" y="2231136"/>
            <a:ext cx="2377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Sales Pipeline Management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 txBox="1"/>
          <p:nvPr/>
        </p:nvSpPr>
        <p:spPr>
          <a:xfrm>
            <a:off x="5650992" y="2578608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Sales Pipeline &amp; Deal Management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5257800" y="3246120"/>
            <a:ext cx="3383280" cy="1051560"/>
          </a:xfrm>
          <a:prstGeom prst="roundRect">
            <a:avLst>
              <a:gd fmla="val 12174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"/>
          <p:cNvSpPr/>
          <p:nvPr/>
        </p:nvSpPr>
        <p:spPr>
          <a:xfrm>
            <a:off x="5440680" y="3493008"/>
            <a:ext cx="548640" cy="54864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Bullhorn" id="37" name="Google Shape;37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77840" y="363016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1"/>
          <p:cNvSpPr txBox="1"/>
          <p:nvPr/>
        </p:nvSpPr>
        <p:spPr>
          <a:xfrm>
            <a:off x="6153912" y="3465576"/>
            <a:ext cx="2377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Email Content Generation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1"/>
          <p:cNvSpPr txBox="1"/>
          <p:nvPr/>
        </p:nvSpPr>
        <p:spPr>
          <a:xfrm>
            <a:off x="6153912" y="3813048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Email Campaign Management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"/>
          <p:cNvSpPr txBox="1"/>
          <p:nvPr>
            <p:ph type="title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lang="en-US" sz="3200">
                <a:solidFill>
                  <a:schemeClr val="dk1"/>
                </a:solidFill>
              </a:rPr>
              <a:t>Overview</a:t>
            </a:r>
            <a:endParaRPr sz="3200"/>
          </a:p>
        </p:txBody>
      </p:sp>
      <p:sp>
        <p:nvSpPr>
          <p:cNvPr id="46" name="Google Shape;46;p2"/>
          <p:cNvSpPr/>
          <p:nvPr/>
        </p:nvSpPr>
        <p:spPr>
          <a:xfrm>
            <a:off x="457200" y="1188720"/>
            <a:ext cx="4023360" cy="2286000"/>
          </a:xfrm>
          <a:prstGeom prst="roundRect">
            <a:avLst>
              <a:gd fmla="val 5600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731520" y="1417320"/>
            <a:ext cx="548640" cy="54864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LayerGroup" id="48" name="Google Shape;4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680" y="15544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2"/>
          <p:cNvSpPr txBox="1"/>
          <p:nvPr/>
        </p:nvSpPr>
        <p:spPr>
          <a:xfrm>
            <a:off x="731525" y="2103125"/>
            <a:ext cx="36120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AILA CRM is an AI-powered Customer Relationship Management platform designed to help businesses manage leads, contacts, sales activities, email communications, and marketing campaigns from one centralized system.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4663440" y="1188720"/>
            <a:ext cx="4023360" cy="2286000"/>
          </a:xfrm>
          <a:prstGeom prst="roundRect">
            <a:avLst>
              <a:gd fmla="val 5600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4937760" y="1417320"/>
            <a:ext cx="548640" cy="548640"/>
          </a:xfrm>
          <a:prstGeom prst="ellipse">
            <a:avLst/>
          </a:prstGeom>
          <a:solidFill>
            <a:schemeClr val="accent3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Robot" id="52" name="Google Shape;52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74920" y="15544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2"/>
          <p:cNvSpPr txBox="1"/>
          <p:nvPr/>
        </p:nvSpPr>
        <p:spPr>
          <a:xfrm>
            <a:off x="4937760" y="2103120"/>
            <a:ext cx="34747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The platform combines traditional CRM capabilities with AI-powered tools to simplify daily operations, reduce manual work, improve customer engagement, and increase sales productivity.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457200" y="3703320"/>
            <a:ext cx="2651760" cy="960120"/>
          </a:xfrm>
          <a:prstGeom prst="roundRect">
            <a:avLst>
              <a:gd fmla="val 13333" name="adj"/>
            </a:avLst>
          </a:prstGeom>
          <a:solidFill>
            <a:schemeClr val="lt2"/>
          </a:solidFill>
          <a:ln cap="flat" cmpd="sng" w="9525">
            <a:solidFill>
              <a:srgbClr val="DDE3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"/>
          <p:cNvSpPr txBox="1"/>
          <p:nvPr/>
        </p:nvSpPr>
        <p:spPr>
          <a:xfrm>
            <a:off x="731520" y="3749040"/>
            <a:ext cx="9144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 txBox="1"/>
          <p:nvPr/>
        </p:nvSpPr>
        <p:spPr>
          <a:xfrm>
            <a:off x="1554480" y="3749040"/>
            <a:ext cx="1463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Modules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3246120" y="3703320"/>
            <a:ext cx="2651760" cy="960120"/>
          </a:xfrm>
          <a:prstGeom prst="roundRect">
            <a:avLst>
              <a:gd fmla="val 13333" name="adj"/>
            </a:avLst>
          </a:prstGeom>
          <a:solidFill>
            <a:schemeClr val="lt2"/>
          </a:solidFill>
          <a:ln cap="flat" cmpd="sng" w="9525">
            <a:solidFill>
              <a:srgbClr val="DDE3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"/>
          <p:cNvSpPr txBox="1"/>
          <p:nvPr/>
        </p:nvSpPr>
        <p:spPr>
          <a:xfrm>
            <a:off x="3520440" y="3749040"/>
            <a:ext cx="9144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Arial"/>
              <a:buNone/>
            </a:pPr>
            <a:r>
              <a:rPr b="1" lang="en-US" sz="4400">
                <a:solidFill>
                  <a:schemeClr val="accent2"/>
                </a:solidFill>
              </a:rPr>
              <a:t>87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 txBox="1"/>
          <p:nvPr/>
        </p:nvSpPr>
        <p:spPr>
          <a:xfrm>
            <a:off x="4343400" y="3749040"/>
            <a:ext cx="1463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Features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6035040" y="3703320"/>
            <a:ext cx="2651760" cy="960120"/>
          </a:xfrm>
          <a:prstGeom prst="roundRect">
            <a:avLst>
              <a:gd fmla="val 13333" name="adj"/>
            </a:avLst>
          </a:prstGeom>
          <a:solidFill>
            <a:schemeClr val="lt2"/>
          </a:solidFill>
          <a:ln cap="flat" cmpd="sng" w="9525">
            <a:solidFill>
              <a:srgbClr val="DDE3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2"/>
          <p:cNvSpPr txBox="1"/>
          <p:nvPr/>
        </p:nvSpPr>
        <p:spPr>
          <a:xfrm>
            <a:off x="6309360" y="3749040"/>
            <a:ext cx="9144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 txBox="1"/>
          <p:nvPr/>
        </p:nvSpPr>
        <p:spPr>
          <a:xfrm>
            <a:off x="7132320" y="3749040"/>
            <a:ext cx="1463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Milestones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 txBox="1"/>
          <p:nvPr>
            <p:ph idx="4294967295" type="sldNum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"/>
          <p:cNvSpPr txBox="1"/>
          <p:nvPr>
            <p:ph type="title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lang="en-US" sz="3200">
                <a:solidFill>
                  <a:schemeClr val="dk1"/>
                </a:solidFill>
              </a:rPr>
              <a:t>Key Modules</a:t>
            </a:r>
            <a:endParaRPr sz="3200"/>
          </a:p>
        </p:txBody>
      </p:sp>
      <p:sp>
        <p:nvSpPr>
          <p:cNvPr id="70" name="Google Shape;70;p3"/>
          <p:cNvSpPr/>
          <p:nvPr/>
        </p:nvSpPr>
        <p:spPr>
          <a:xfrm>
            <a:off x="457200" y="1188720"/>
            <a:ext cx="1499616" cy="1645920"/>
          </a:xfrm>
          <a:prstGeom prst="roundRect">
            <a:avLst>
              <a:gd fmla="val 8537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621792" y="1353312"/>
            <a:ext cx="457200" cy="4572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Users" id="72" name="Google Shape;7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6092" y="146761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"/>
          <p:cNvSpPr txBox="1"/>
          <p:nvPr/>
        </p:nvSpPr>
        <p:spPr>
          <a:xfrm>
            <a:off x="1271016" y="1353312"/>
            <a:ext cx="52120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 txBox="1"/>
          <p:nvPr/>
        </p:nvSpPr>
        <p:spPr>
          <a:xfrm>
            <a:off x="621792" y="1965960"/>
            <a:ext cx="1225296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 &amp; Workspace Management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2139696" y="1188720"/>
            <a:ext cx="1499616" cy="1645920"/>
          </a:xfrm>
          <a:prstGeom prst="roundRect">
            <a:avLst>
              <a:gd fmla="val 8537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2304288" y="1353312"/>
            <a:ext cx="457200" cy="45720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AddressBook" id="77" name="Google Shape;7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18588" y="146761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3"/>
          <p:cNvSpPr txBox="1"/>
          <p:nvPr/>
        </p:nvSpPr>
        <p:spPr>
          <a:xfrm>
            <a:off x="2953512" y="1353312"/>
            <a:ext cx="52120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 txBox="1"/>
          <p:nvPr/>
        </p:nvSpPr>
        <p:spPr>
          <a:xfrm>
            <a:off x="2304288" y="1965960"/>
            <a:ext cx="1225296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Contact &amp; Company Management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3822192" y="1188720"/>
            <a:ext cx="1499616" cy="1645920"/>
          </a:xfrm>
          <a:prstGeom prst="roundRect">
            <a:avLst>
              <a:gd fmla="val 8537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3986784" y="1353312"/>
            <a:ext cx="457200" cy="457200"/>
          </a:xfrm>
          <a:prstGeom prst="ellipse">
            <a:avLst/>
          </a:prstGeom>
          <a:solidFill>
            <a:schemeClr val="accent3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IdCard" id="82" name="Google Shape;82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01084" y="146761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3"/>
          <p:cNvSpPr txBox="1"/>
          <p:nvPr/>
        </p:nvSpPr>
        <p:spPr>
          <a:xfrm>
            <a:off x="4636008" y="1353312"/>
            <a:ext cx="52120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 txBox="1"/>
          <p:nvPr/>
        </p:nvSpPr>
        <p:spPr>
          <a:xfrm>
            <a:off x="3986784" y="1965960"/>
            <a:ext cx="1225296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Business Card &amp; Lead Capture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5504688" y="1188720"/>
            <a:ext cx="1499616" cy="1645920"/>
          </a:xfrm>
          <a:prstGeom prst="roundRect">
            <a:avLst>
              <a:gd fmla="val 8537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5669280" y="1353312"/>
            <a:ext cx="457200" cy="457200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FunnelDollar" id="87" name="Google Shape;87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83580" y="146761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3"/>
          <p:cNvSpPr txBox="1"/>
          <p:nvPr/>
        </p:nvSpPr>
        <p:spPr>
          <a:xfrm>
            <a:off x="6318504" y="1353312"/>
            <a:ext cx="52120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 txBox="1"/>
          <p:nvPr/>
        </p:nvSpPr>
        <p:spPr>
          <a:xfrm>
            <a:off x="5669280" y="1965960"/>
            <a:ext cx="1225296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Sales Pipeline &amp; Deal Management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7187184" y="1188720"/>
            <a:ext cx="1499616" cy="1645920"/>
          </a:xfrm>
          <a:prstGeom prst="roundRect">
            <a:avLst>
              <a:gd fmla="val 8537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7351776" y="1353312"/>
            <a:ext cx="457200" cy="457200"/>
          </a:xfrm>
          <a:prstGeom prst="ellipse">
            <a:avLst/>
          </a:prstGeom>
          <a:solidFill>
            <a:schemeClr val="accent5"/>
          </a:solidFill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Inbox" id="92" name="Google Shape;92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466076" y="146761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3"/>
          <p:cNvSpPr txBox="1"/>
          <p:nvPr/>
        </p:nvSpPr>
        <p:spPr>
          <a:xfrm>
            <a:off x="8001000" y="1353312"/>
            <a:ext cx="52120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 txBox="1"/>
          <p:nvPr/>
        </p:nvSpPr>
        <p:spPr>
          <a:xfrm>
            <a:off x="7351776" y="1965960"/>
            <a:ext cx="1225296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Inbox </a:t>
            </a: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&amp; Messaging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457200" y="2971800"/>
            <a:ext cx="1499616" cy="1645920"/>
          </a:xfrm>
          <a:prstGeom prst="roundRect">
            <a:avLst>
              <a:gd fmla="val 8537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"/>
          <p:cNvSpPr/>
          <p:nvPr/>
        </p:nvSpPr>
        <p:spPr>
          <a:xfrm>
            <a:off x="621792" y="3136392"/>
            <a:ext cx="457200" cy="4572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Bullhorn" id="97" name="Google Shape;97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36092" y="325069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3"/>
          <p:cNvSpPr txBox="1"/>
          <p:nvPr/>
        </p:nvSpPr>
        <p:spPr>
          <a:xfrm>
            <a:off x="1271016" y="3136392"/>
            <a:ext cx="52120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 txBox="1"/>
          <p:nvPr/>
        </p:nvSpPr>
        <p:spPr>
          <a:xfrm>
            <a:off x="621792" y="3749040"/>
            <a:ext cx="1225296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Email Campaign Management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2139696" y="2971800"/>
            <a:ext cx="1499616" cy="1645920"/>
          </a:xfrm>
          <a:prstGeom prst="roundRect">
            <a:avLst>
              <a:gd fmla="val 8537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"/>
          <p:cNvSpPr/>
          <p:nvPr/>
        </p:nvSpPr>
        <p:spPr>
          <a:xfrm>
            <a:off x="2304288" y="3136392"/>
            <a:ext cx="457200" cy="45720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Robot" id="102" name="Google Shape;102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418588" y="325069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3"/>
          <p:cNvSpPr txBox="1"/>
          <p:nvPr/>
        </p:nvSpPr>
        <p:spPr>
          <a:xfrm>
            <a:off x="2953512" y="3136392"/>
            <a:ext cx="52120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 txBox="1"/>
          <p:nvPr/>
        </p:nvSpPr>
        <p:spPr>
          <a:xfrm>
            <a:off x="2304288" y="3749040"/>
            <a:ext cx="1225296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CRM Assistant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3822192" y="2971800"/>
            <a:ext cx="1499616" cy="1645920"/>
          </a:xfrm>
          <a:prstGeom prst="roundRect">
            <a:avLst>
              <a:gd fmla="val 8537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"/>
          <p:cNvSpPr/>
          <p:nvPr/>
        </p:nvSpPr>
        <p:spPr>
          <a:xfrm>
            <a:off x="3986784" y="3136392"/>
            <a:ext cx="457200" cy="457200"/>
          </a:xfrm>
          <a:prstGeom prst="ellipse">
            <a:avLst/>
          </a:prstGeom>
          <a:solidFill>
            <a:schemeClr val="accent3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Tasks" id="107" name="Google Shape;107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101084" y="325069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3"/>
          <p:cNvSpPr txBox="1"/>
          <p:nvPr/>
        </p:nvSpPr>
        <p:spPr>
          <a:xfrm>
            <a:off x="4636008" y="3136392"/>
            <a:ext cx="52120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 txBox="1"/>
          <p:nvPr/>
        </p:nvSpPr>
        <p:spPr>
          <a:xfrm>
            <a:off x="3986784" y="3749040"/>
            <a:ext cx="1225296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Tasks &amp; Workflow Automation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5504688" y="2971800"/>
            <a:ext cx="1499616" cy="1645920"/>
          </a:xfrm>
          <a:prstGeom prst="roundRect">
            <a:avLst>
              <a:gd fmla="val 8537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"/>
          <p:cNvSpPr/>
          <p:nvPr/>
        </p:nvSpPr>
        <p:spPr>
          <a:xfrm>
            <a:off x="5669280" y="3136392"/>
            <a:ext cx="457200" cy="457200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ChartPie" id="112" name="Google Shape;112;p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783580" y="325069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3"/>
          <p:cNvSpPr txBox="1"/>
          <p:nvPr/>
        </p:nvSpPr>
        <p:spPr>
          <a:xfrm>
            <a:off x="6318504" y="3136392"/>
            <a:ext cx="52120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 txBox="1"/>
          <p:nvPr/>
        </p:nvSpPr>
        <p:spPr>
          <a:xfrm>
            <a:off x="5669280" y="3749040"/>
            <a:ext cx="1225296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Dashboard &amp; Reporting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7187184" y="2971800"/>
            <a:ext cx="1499616" cy="1645920"/>
          </a:xfrm>
          <a:prstGeom prst="roundRect">
            <a:avLst>
              <a:gd fmla="val 8537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3"/>
          <p:cNvSpPr/>
          <p:nvPr/>
        </p:nvSpPr>
        <p:spPr>
          <a:xfrm>
            <a:off x="7351776" y="3136392"/>
            <a:ext cx="457200" cy="457200"/>
          </a:xfrm>
          <a:prstGeom prst="ellipse">
            <a:avLst/>
          </a:prstGeom>
          <a:solidFill>
            <a:schemeClr val="accent5"/>
          </a:solidFill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ShieldAlt" id="117" name="Google Shape;117;p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466076" y="325069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3"/>
          <p:cNvSpPr txBox="1"/>
          <p:nvPr/>
        </p:nvSpPr>
        <p:spPr>
          <a:xfrm>
            <a:off x="8001000" y="3136392"/>
            <a:ext cx="52120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 txBox="1"/>
          <p:nvPr/>
        </p:nvSpPr>
        <p:spPr>
          <a:xfrm>
            <a:off x="7351776" y="3749040"/>
            <a:ext cx="1225296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 Administration &amp; Security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 txBox="1"/>
          <p:nvPr>
            <p:ph idx="4294967295" type="sldNum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"/>
          <p:cNvSpPr txBox="1"/>
          <p:nvPr>
            <p:ph type="title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lang="en-US" sz="3200">
                <a:solidFill>
                  <a:schemeClr val="dk1"/>
                </a:solidFill>
              </a:rPr>
              <a:t>Business Benefits</a:t>
            </a:r>
            <a:endParaRPr sz="3200"/>
          </a:p>
        </p:txBody>
      </p:sp>
      <p:sp>
        <p:nvSpPr>
          <p:cNvPr id="127" name="Google Shape;127;p4"/>
          <p:cNvSpPr/>
          <p:nvPr/>
        </p:nvSpPr>
        <p:spPr>
          <a:xfrm>
            <a:off x="457200" y="1188720"/>
            <a:ext cx="4023360" cy="795528"/>
          </a:xfrm>
          <a:prstGeom prst="roundRect">
            <a:avLst>
              <a:gd fmla="val 16092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"/>
          <p:cNvSpPr/>
          <p:nvPr/>
        </p:nvSpPr>
        <p:spPr>
          <a:xfrm>
            <a:off x="640080" y="1335024"/>
            <a:ext cx="502920" cy="50292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LayerGroup" id="129" name="Google Shape;12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5810" y="1460754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4"/>
          <p:cNvSpPr txBox="1"/>
          <p:nvPr/>
        </p:nvSpPr>
        <p:spPr>
          <a:xfrm>
            <a:off x="1325880" y="1261872"/>
            <a:ext cx="3017520" cy="649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Centralized Management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Manage leads, contacts, sales, and email communications in one platform.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457200" y="2093976"/>
            <a:ext cx="4023360" cy="795528"/>
          </a:xfrm>
          <a:prstGeom prst="roundRect">
            <a:avLst>
              <a:gd fmla="val 16092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"/>
          <p:cNvSpPr/>
          <p:nvPr/>
        </p:nvSpPr>
        <p:spPr>
          <a:xfrm>
            <a:off x="640080" y="2240280"/>
            <a:ext cx="502920" cy="50292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Bolt" id="133" name="Google Shape;13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5810" y="236601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4"/>
          <p:cNvSpPr txBox="1"/>
          <p:nvPr/>
        </p:nvSpPr>
        <p:spPr>
          <a:xfrm>
            <a:off x="1325880" y="2167128"/>
            <a:ext cx="3017520" cy="649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Improved Productivity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Reduce repetitive administrative tasks through AI and automation.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457200" y="2999232"/>
            <a:ext cx="4023360" cy="795528"/>
          </a:xfrm>
          <a:prstGeom prst="roundRect">
            <a:avLst>
              <a:gd fmla="val 16092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"/>
          <p:cNvSpPr/>
          <p:nvPr/>
        </p:nvSpPr>
        <p:spPr>
          <a:xfrm>
            <a:off x="640080" y="3145536"/>
            <a:ext cx="502920" cy="502920"/>
          </a:xfrm>
          <a:prstGeom prst="ellipse">
            <a:avLst/>
          </a:prstGeom>
          <a:solidFill>
            <a:schemeClr val="accent3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Bullseye" id="137" name="Google Shape;137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5810" y="3271266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4"/>
          <p:cNvSpPr txBox="1"/>
          <p:nvPr/>
        </p:nvSpPr>
        <p:spPr>
          <a:xfrm>
            <a:off x="1325880" y="3072384"/>
            <a:ext cx="3017520" cy="649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Better Lead Management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Capture, organize, qualify, and follow up with potential customers efficiently.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457200" y="3904488"/>
            <a:ext cx="4023360" cy="795528"/>
          </a:xfrm>
          <a:prstGeom prst="roundRect">
            <a:avLst>
              <a:gd fmla="val 16092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4"/>
          <p:cNvSpPr/>
          <p:nvPr/>
        </p:nvSpPr>
        <p:spPr>
          <a:xfrm>
            <a:off x="640080" y="4050792"/>
            <a:ext cx="502920" cy="502920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Comments" id="141" name="Google Shape;141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5810" y="4176522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4"/>
          <p:cNvSpPr txBox="1"/>
          <p:nvPr/>
        </p:nvSpPr>
        <p:spPr>
          <a:xfrm>
            <a:off x="1325880" y="3977640"/>
            <a:ext cx="3017520" cy="649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Streamlined Communication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Manage multiple email inboxes and customer conversations within the CRM.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4663440" y="1188720"/>
            <a:ext cx="4023360" cy="1078992"/>
          </a:xfrm>
          <a:prstGeom prst="roundRect">
            <a:avLst>
              <a:gd fmla="val 11864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4846320" y="1476756"/>
            <a:ext cx="502920" cy="502920"/>
          </a:xfrm>
          <a:prstGeom prst="ellipse">
            <a:avLst/>
          </a:prstGeom>
          <a:solidFill>
            <a:schemeClr val="accent5"/>
          </a:solidFill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EnvelopeOpenText" id="145" name="Google Shape;145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72050" y="1602486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4"/>
          <p:cNvSpPr txBox="1"/>
          <p:nvPr/>
        </p:nvSpPr>
        <p:spPr>
          <a:xfrm>
            <a:off x="5532120" y="1261872"/>
            <a:ext cx="3017520" cy="932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Effective Email Marketing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Run targeted email campaigns and monitor engagement.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4663440" y="2404872"/>
            <a:ext cx="4023360" cy="1078992"/>
          </a:xfrm>
          <a:prstGeom prst="roundRect">
            <a:avLst>
              <a:gd fmla="val 11864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4"/>
          <p:cNvSpPr/>
          <p:nvPr/>
        </p:nvSpPr>
        <p:spPr>
          <a:xfrm>
            <a:off x="4846320" y="2692908"/>
            <a:ext cx="502920" cy="50292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Eye" id="149" name="Google Shape;149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972050" y="2818638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4"/>
          <p:cNvSpPr txBox="1"/>
          <p:nvPr/>
        </p:nvSpPr>
        <p:spPr>
          <a:xfrm>
            <a:off x="5532120" y="2478024"/>
            <a:ext cx="3017520" cy="932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Sales Visibility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Track opportunities, team activities, and sales performance through dashboards.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4663440" y="3621024"/>
            <a:ext cx="4023360" cy="1078992"/>
          </a:xfrm>
          <a:prstGeom prst="roundRect">
            <a:avLst>
              <a:gd fmla="val 11864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4"/>
          <p:cNvSpPr/>
          <p:nvPr/>
        </p:nvSpPr>
        <p:spPr>
          <a:xfrm>
            <a:off x="4846320" y="3909060"/>
            <a:ext cx="502920" cy="50292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Cubes" id="153" name="Google Shape;153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972050" y="403479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4"/>
          <p:cNvSpPr txBox="1"/>
          <p:nvPr/>
        </p:nvSpPr>
        <p:spPr>
          <a:xfrm>
            <a:off x="5532120" y="3694176"/>
            <a:ext cx="3017520" cy="932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Scalable Architecture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Support multiple businesses with secure, separate workspaces.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 txBox="1"/>
          <p:nvPr>
            <p:ph idx="4294967295" type="sldNum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"/>
          <p:cNvSpPr txBox="1"/>
          <p:nvPr>
            <p:ph type="title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lang="en-US" sz="3200">
                <a:solidFill>
                  <a:schemeClr val="dk1"/>
                </a:solidFill>
              </a:rPr>
              <a:t>Project Objective</a:t>
            </a:r>
            <a:endParaRPr sz="3200"/>
          </a:p>
        </p:txBody>
      </p:sp>
      <p:sp>
        <p:nvSpPr>
          <p:cNvPr id="162" name="Google Shape;162;p5"/>
          <p:cNvSpPr/>
          <p:nvPr/>
        </p:nvSpPr>
        <p:spPr>
          <a:xfrm>
            <a:off x="457200" y="1188720"/>
            <a:ext cx="5120640" cy="3520440"/>
          </a:xfrm>
          <a:prstGeom prst="roundRect">
            <a:avLst>
              <a:gd fmla="val 3636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5"/>
          <p:cNvSpPr/>
          <p:nvPr/>
        </p:nvSpPr>
        <p:spPr>
          <a:xfrm>
            <a:off x="777240" y="1508760"/>
            <a:ext cx="640080" cy="64008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Bullseye" id="164" name="Google Shape;16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7260" y="166878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5"/>
          <p:cNvSpPr txBox="1"/>
          <p:nvPr/>
        </p:nvSpPr>
        <p:spPr>
          <a:xfrm>
            <a:off x="777240" y="2331720"/>
            <a:ext cx="448056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develop a modern, user-friendly, scalable AI-powered CRM that helps businesses capture more leads, automate routine work, manage customer relationships, and improve sales performance, without relying on multiple disconnected tools.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5806440" y="1188720"/>
            <a:ext cx="2880360" cy="795528"/>
          </a:xfrm>
          <a:prstGeom prst="roundRect">
            <a:avLst>
              <a:gd fmla="val 16092" name="adj"/>
            </a:avLst>
          </a:prstGeom>
          <a:solidFill>
            <a:schemeClr val="lt2"/>
          </a:solidFill>
          <a:ln cap="flat" cmpd="sng" w="9525">
            <a:solidFill>
              <a:srgbClr val="DDE3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5"/>
          <p:cNvSpPr/>
          <p:nvPr/>
        </p:nvSpPr>
        <p:spPr>
          <a:xfrm>
            <a:off x="5989320" y="1362456"/>
            <a:ext cx="457200" cy="4572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IdCard" id="168" name="Google Shape;16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03620" y="1476756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5"/>
          <p:cNvSpPr txBox="1"/>
          <p:nvPr/>
        </p:nvSpPr>
        <p:spPr>
          <a:xfrm>
            <a:off x="6583680" y="1261872"/>
            <a:ext cx="1965960" cy="649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Capture &amp; connect more leads instantly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5806440" y="2093976"/>
            <a:ext cx="2880360" cy="795528"/>
          </a:xfrm>
          <a:prstGeom prst="roundRect">
            <a:avLst>
              <a:gd fmla="val 16092" name="adj"/>
            </a:avLst>
          </a:prstGeom>
          <a:solidFill>
            <a:schemeClr val="lt2"/>
          </a:solidFill>
          <a:ln cap="flat" cmpd="sng" w="9525">
            <a:solidFill>
              <a:srgbClr val="DDE3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5"/>
          <p:cNvSpPr/>
          <p:nvPr/>
        </p:nvSpPr>
        <p:spPr>
          <a:xfrm>
            <a:off x="5989320" y="2267712"/>
            <a:ext cx="457200" cy="45720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Bolt" id="172" name="Google Shape;172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03620" y="238201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5"/>
          <p:cNvSpPr txBox="1"/>
          <p:nvPr/>
        </p:nvSpPr>
        <p:spPr>
          <a:xfrm>
            <a:off x="6583680" y="2167128"/>
            <a:ext cx="1965960" cy="649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Automate routine work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5806440" y="2999232"/>
            <a:ext cx="2880360" cy="795528"/>
          </a:xfrm>
          <a:prstGeom prst="roundRect">
            <a:avLst>
              <a:gd fmla="val 16092" name="adj"/>
            </a:avLst>
          </a:prstGeom>
          <a:solidFill>
            <a:schemeClr val="lt2"/>
          </a:solidFill>
          <a:ln cap="flat" cmpd="sng" w="9525">
            <a:solidFill>
              <a:srgbClr val="DDE3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5"/>
          <p:cNvSpPr/>
          <p:nvPr/>
        </p:nvSpPr>
        <p:spPr>
          <a:xfrm>
            <a:off x="5989320" y="3172968"/>
            <a:ext cx="457200" cy="457200"/>
          </a:xfrm>
          <a:prstGeom prst="ellipse">
            <a:avLst/>
          </a:prstGeom>
          <a:solidFill>
            <a:schemeClr val="accent3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Users" id="176" name="Google Shape;176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03620" y="328726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5"/>
          <p:cNvSpPr txBox="1"/>
          <p:nvPr/>
        </p:nvSpPr>
        <p:spPr>
          <a:xfrm>
            <a:off x="6583680" y="3072384"/>
            <a:ext cx="1965960" cy="649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Manage customer relationships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5806440" y="3904488"/>
            <a:ext cx="2880360" cy="795528"/>
          </a:xfrm>
          <a:prstGeom prst="roundRect">
            <a:avLst>
              <a:gd fmla="val 16092" name="adj"/>
            </a:avLst>
          </a:prstGeom>
          <a:solidFill>
            <a:schemeClr val="lt2"/>
          </a:solidFill>
          <a:ln cap="flat" cmpd="sng" w="9525">
            <a:solidFill>
              <a:srgbClr val="DDE3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5"/>
          <p:cNvSpPr/>
          <p:nvPr/>
        </p:nvSpPr>
        <p:spPr>
          <a:xfrm>
            <a:off x="5989320" y="4078224"/>
            <a:ext cx="457200" cy="457200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ChartLine" id="180" name="Google Shape;180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03620" y="4192524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5"/>
          <p:cNvSpPr txBox="1"/>
          <p:nvPr/>
        </p:nvSpPr>
        <p:spPr>
          <a:xfrm>
            <a:off x="6583680" y="3977640"/>
            <a:ext cx="1965960" cy="649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Improve sales performance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 txBox="1"/>
          <p:nvPr>
            <p:ph idx="4294967295" type="sldNum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"/>
          <p:cNvSpPr txBox="1"/>
          <p:nvPr>
            <p:ph type="title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lang="en-US" sz="3200">
                <a:solidFill>
                  <a:schemeClr val="dk1"/>
                </a:solidFill>
              </a:rPr>
              <a:t>User &amp; Workspace Management</a:t>
            </a:r>
            <a:endParaRPr sz="3200"/>
          </a:p>
        </p:txBody>
      </p:sp>
      <p:sp>
        <p:nvSpPr>
          <p:cNvPr id="189" name="Google Shape;189;p6"/>
          <p:cNvSpPr/>
          <p:nvPr/>
        </p:nvSpPr>
        <p:spPr>
          <a:xfrm>
            <a:off x="457200" y="1188720"/>
            <a:ext cx="1828800" cy="3520440"/>
          </a:xfrm>
          <a:prstGeom prst="roundRect">
            <a:avLst>
              <a:gd fmla="val 7000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6"/>
          <p:cNvSpPr/>
          <p:nvPr/>
        </p:nvSpPr>
        <p:spPr>
          <a:xfrm>
            <a:off x="777240" y="1463040"/>
            <a:ext cx="731520" cy="73152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Users" id="191" name="Google Shape;19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120" y="16459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6"/>
          <p:cNvSpPr txBox="1"/>
          <p:nvPr/>
        </p:nvSpPr>
        <p:spPr>
          <a:xfrm>
            <a:off x="685800" y="2423160"/>
            <a:ext cx="1371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 txBox="1"/>
          <p:nvPr/>
        </p:nvSpPr>
        <p:spPr>
          <a:xfrm>
            <a:off x="685800" y="320040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Module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 txBox="1"/>
          <p:nvPr/>
        </p:nvSpPr>
        <p:spPr>
          <a:xfrm>
            <a:off x="685800" y="347472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 features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2514600" y="1760220"/>
            <a:ext cx="2971800" cy="731520"/>
          </a:xfrm>
          <a:prstGeom prst="roundRect">
            <a:avLst>
              <a:gd fmla="val 12500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6"/>
          <p:cNvSpPr/>
          <p:nvPr/>
        </p:nvSpPr>
        <p:spPr>
          <a:xfrm>
            <a:off x="2660904" y="2071116"/>
            <a:ext cx="109728" cy="109728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6"/>
          <p:cNvSpPr txBox="1"/>
          <p:nvPr/>
        </p:nvSpPr>
        <p:spPr>
          <a:xfrm>
            <a:off x="2880360" y="1760220"/>
            <a:ext cx="2514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Multi-Tenant CRM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2514600" y="2583180"/>
            <a:ext cx="2971800" cy="731520"/>
          </a:xfrm>
          <a:prstGeom prst="roundRect">
            <a:avLst>
              <a:gd fmla="val 12500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6"/>
          <p:cNvSpPr/>
          <p:nvPr/>
        </p:nvSpPr>
        <p:spPr>
          <a:xfrm>
            <a:off x="2660904" y="2894076"/>
            <a:ext cx="109728" cy="109728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6"/>
          <p:cNvSpPr txBox="1"/>
          <p:nvPr/>
        </p:nvSpPr>
        <p:spPr>
          <a:xfrm>
            <a:off x="2880360" y="2583180"/>
            <a:ext cx="2514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Company / Workspace Management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2514600" y="3406140"/>
            <a:ext cx="2971800" cy="731520"/>
          </a:xfrm>
          <a:prstGeom prst="roundRect">
            <a:avLst>
              <a:gd fmla="val 12500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6"/>
          <p:cNvSpPr/>
          <p:nvPr/>
        </p:nvSpPr>
        <p:spPr>
          <a:xfrm>
            <a:off x="2660904" y="3717036"/>
            <a:ext cx="109728" cy="109728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6"/>
          <p:cNvSpPr txBox="1"/>
          <p:nvPr/>
        </p:nvSpPr>
        <p:spPr>
          <a:xfrm>
            <a:off x="2880360" y="3406140"/>
            <a:ext cx="2514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 Login &amp; Authentication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5669280" y="1760220"/>
            <a:ext cx="2971800" cy="731520"/>
          </a:xfrm>
          <a:prstGeom prst="roundRect">
            <a:avLst>
              <a:gd fmla="val 12500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6"/>
          <p:cNvSpPr/>
          <p:nvPr/>
        </p:nvSpPr>
        <p:spPr>
          <a:xfrm>
            <a:off x="5815584" y="2071116"/>
            <a:ext cx="109728" cy="109728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6"/>
          <p:cNvSpPr txBox="1"/>
          <p:nvPr/>
        </p:nvSpPr>
        <p:spPr>
          <a:xfrm>
            <a:off x="6035040" y="1760220"/>
            <a:ext cx="2514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Role-Based Access Control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5669280" y="2583180"/>
            <a:ext cx="2971800" cy="731520"/>
          </a:xfrm>
          <a:prstGeom prst="roundRect">
            <a:avLst>
              <a:gd fmla="val 12500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6"/>
          <p:cNvSpPr/>
          <p:nvPr/>
        </p:nvSpPr>
        <p:spPr>
          <a:xfrm>
            <a:off x="5815584" y="2894076"/>
            <a:ext cx="109728" cy="109728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6"/>
          <p:cNvSpPr txBox="1"/>
          <p:nvPr/>
        </p:nvSpPr>
        <p:spPr>
          <a:xfrm>
            <a:off x="6035040" y="2583180"/>
            <a:ext cx="2514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 &amp; Team Management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5669280" y="3406140"/>
            <a:ext cx="2971800" cy="731520"/>
          </a:xfrm>
          <a:prstGeom prst="roundRect">
            <a:avLst>
              <a:gd fmla="val 12500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6"/>
          <p:cNvSpPr/>
          <p:nvPr/>
        </p:nvSpPr>
        <p:spPr>
          <a:xfrm>
            <a:off x="5815584" y="3717036"/>
            <a:ext cx="109728" cy="109728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6"/>
          <p:cNvSpPr txBox="1"/>
          <p:nvPr/>
        </p:nvSpPr>
        <p:spPr>
          <a:xfrm>
            <a:off x="6035040" y="3406140"/>
            <a:ext cx="2514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 Profile &amp; Account Settings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 txBox="1"/>
          <p:nvPr>
            <p:ph idx="4294967295" type="sldNum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7"/>
          <p:cNvSpPr txBox="1"/>
          <p:nvPr>
            <p:ph type="title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lang="en-US" sz="3200">
                <a:solidFill>
                  <a:schemeClr val="dk1"/>
                </a:solidFill>
              </a:rPr>
              <a:t>Contact &amp; Company Management</a:t>
            </a:r>
            <a:endParaRPr sz="3200"/>
          </a:p>
        </p:txBody>
      </p:sp>
      <p:sp>
        <p:nvSpPr>
          <p:cNvPr id="220" name="Google Shape;220;p7"/>
          <p:cNvSpPr/>
          <p:nvPr/>
        </p:nvSpPr>
        <p:spPr>
          <a:xfrm>
            <a:off x="457200" y="1188720"/>
            <a:ext cx="1828800" cy="3520440"/>
          </a:xfrm>
          <a:prstGeom prst="roundRect">
            <a:avLst>
              <a:gd fmla="val 7000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7"/>
          <p:cNvSpPr/>
          <p:nvPr/>
        </p:nvSpPr>
        <p:spPr>
          <a:xfrm>
            <a:off x="777240" y="1463040"/>
            <a:ext cx="731520" cy="73152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AddressBook" id="222" name="Google Shape;22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120" y="16459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7"/>
          <p:cNvSpPr txBox="1"/>
          <p:nvPr/>
        </p:nvSpPr>
        <p:spPr>
          <a:xfrm>
            <a:off x="685800" y="2423160"/>
            <a:ext cx="1371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7"/>
          <p:cNvSpPr txBox="1"/>
          <p:nvPr/>
        </p:nvSpPr>
        <p:spPr>
          <a:xfrm>
            <a:off x="685800" y="320040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Module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 txBox="1"/>
          <p:nvPr/>
        </p:nvSpPr>
        <p:spPr>
          <a:xfrm>
            <a:off x="685800" y="347472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 features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2514600" y="1234440"/>
            <a:ext cx="2971800" cy="495300"/>
          </a:xfrm>
          <a:prstGeom prst="roundRect">
            <a:avLst>
              <a:gd fmla="val 18462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7"/>
          <p:cNvSpPr/>
          <p:nvPr/>
        </p:nvSpPr>
        <p:spPr>
          <a:xfrm>
            <a:off x="2660904" y="1427226"/>
            <a:ext cx="109728" cy="109728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7"/>
          <p:cNvSpPr txBox="1"/>
          <p:nvPr/>
        </p:nvSpPr>
        <p:spPr>
          <a:xfrm>
            <a:off x="2880360" y="1234440"/>
            <a:ext cx="25146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Contact Management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2514600" y="1821180"/>
            <a:ext cx="2971800" cy="495300"/>
          </a:xfrm>
          <a:prstGeom prst="roundRect">
            <a:avLst>
              <a:gd fmla="val 18462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7"/>
          <p:cNvSpPr/>
          <p:nvPr/>
        </p:nvSpPr>
        <p:spPr>
          <a:xfrm>
            <a:off x="2660904" y="2013966"/>
            <a:ext cx="109728" cy="109728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7"/>
          <p:cNvSpPr txBox="1"/>
          <p:nvPr/>
        </p:nvSpPr>
        <p:spPr>
          <a:xfrm>
            <a:off x="2880360" y="1821180"/>
            <a:ext cx="25146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Company Management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2514600" y="2407920"/>
            <a:ext cx="2971800" cy="495300"/>
          </a:xfrm>
          <a:prstGeom prst="roundRect">
            <a:avLst>
              <a:gd fmla="val 18462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7"/>
          <p:cNvSpPr/>
          <p:nvPr/>
        </p:nvSpPr>
        <p:spPr>
          <a:xfrm>
            <a:off x="2660904" y="2600706"/>
            <a:ext cx="109728" cy="109728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7"/>
          <p:cNvSpPr txBox="1"/>
          <p:nvPr/>
        </p:nvSpPr>
        <p:spPr>
          <a:xfrm>
            <a:off x="2880360" y="2407920"/>
            <a:ext cx="25146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Lead Management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7"/>
          <p:cNvSpPr/>
          <p:nvPr/>
        </p:nvSpPr>
        <p:spPr>
          <a:xfrm>
            <a:off x="2514600" y="2994660"/>
            <a:ext cx="2971800" cy="495300"/>
          </a:xfrm>
          <a:prstGeom prst="roundRect">
            <a:avLst>
              <a:gd fmla="val 18462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7"/>
          <p:cNvSpPr/>
          <p:nvPr/>
        </p:nvSpPr>
        <p:spPr>
          <a:xfrm>
            <a:off x="2660904" y="3187446"/>
            <a:ext cx="109728" cy="109728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7"/>
          <p:cNvSpPr txBox="1"/>
          <p:nvPr/>
        </p:nvSpPr>
        <p:spPr>
          <a:xfrm>
            <a:off x="2880360" y="2994660"/>
            <a:ext cx="25146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Excel / CSV Contact Import &amp; Export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2514600" y="3581400"/>
            <a:ext cx="2971800" cy="495300"/>
          </a:xfrm>
          <a:prstGeom prst="roundRect">
            <a:avLst>
              <a:gd fmla="val 18462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7"/>
          <p:cNvSpPr/>
          <p:nvPr/>
        </p:nvSpPr>
        <p:spPr>
          <a:xfrm>
            <a:off x="2660904" y="3774186"/>
            <a:ext cx="109728" cy="109728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7"/>
          <p:cNvSpPr txBox="1"/>
          <p:nvPr/>
        </p:nvSpPr>
        <p:spPr>
          <a:xfrm>
            <a:off x="2880360" y="3581400"/>
            <a:ext cx="25146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Duplicate Contact Detection &amp; Merging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2514600" y="4168140"/>
            <a:ext cx="2971800" cy="495300"/>
          </a:xfrm>
          <a:prstGeom prst="roundRect">
            <a:avLst>
              <a:gd fmla="val 18462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7"/>
          <p:cNvSpPr/>
          <p:nvPr/>
        </p:nvSpPr>
        <p:spPr>
          <a:xfrm>
            <a:off x="2660904" y="4360926"/>
            <a:ext cx="109728" cy="109728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7"/>
          <p:cNvSpPr txBox="1"/>
          <p:nvPr/>
        </p:nvSpPr>
        <p:spPr>
          <a:xfrm>
            <a:off x="2880360" y="4168140"/>
            <a:ext cx="25146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Contact &amp; Company Search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5669280" y="1234440"/>
            <a:ext cx="2971800" cy="495300"/>
          </a:xfrm>
          <a:prstGeom prst="roundRect">
            <a:avLst>
              <a:gd fmla="val 18462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7"/>
          <p:cNvSpPr/>
          <p:nvPr/>
        </p:nvSpPr>
        <p:spPr>
          <a:xfrm>
            <a:off x="5815584" y="1427226"/>
            <a:ext cx="109728" cy="109728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7"/>
          <p:cNvSpPr txBox="1"/>
          <p:nvPr/>
        </p:nvSpPr>
        <p:spPr>
          <a:xfrm>
            <a:off x="6035040" y="1234440"/>
            <a:ext cx="25146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Advanced Filtering &amp; Segmentation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5669280" y="1821180"/>
            <a:ext cx="2971800" cy="495300"/>
          </a:xfrm>
          <a:prstGeom prst="roundRect">
            <a:avLst>
              <a:gd fmla="val 18462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7"/>
          <p:cNvSpPr/>
          <p:nvPr/>
        </p:nvSpPr>
        <p:spPr>
          <a:xfrm>
            <a:off x="5815584" y="2013966"/>
            <a:ext cx="109728" cy="109728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7"/>
          <p:cNvSpPr txBox="1"/>
          <p:nvPr/>
        </p:nvSpPr>
        <p:spPr>
          <a:xfrm>
            <a:off x="6035040" y="1821180"/>
            <a:ext cx="25146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Custom Fields &amp; Tags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7"/>
          <p:cNvSpPr/>
          <p:nvPr/>
        </p:nvSpPr>
        <p:spPr>
          <a:xfrm>
            <a:off x="5669280" y="2407920"/>
            <a:ext cx="2971800" cy="495300"/>
          </a:xfrm>
          <a:prstGeom prst="roundRect">
            <a:avLst>
              <a:gd fmla="val 18462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7"/>
          <p:cNvSpPr/>
          <p:nvPr/>
        </p:nvSpPr>
        <p:spPr>
          <a:xfrm>
            <a:off x="5815584" y="2600706"/>
            <a:ext cx="109728" cy="109728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7"/>
          <p:cNvSpPr txBox="1"/>
          <p:nvPr/>
        </p:nvSpPr>
        <p:spPr>
          <a:xfrm>
            <a:off x="6035040" y="2407920"/>
            <a:ext cx="25146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Contact Lists Management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7"/>
          <p:cNvSpPr/>
          <p:nvPr/>
        </p:nvSpPr>
        <p:spPr>
          <a:xfrm>
            <a:off x="5669280" y="2994660"/>
            <a:ext cx="2971800" cy="495300"/>
          </a:xfrm>
          <a:prstGeom prst="roundRect">
            <a:avLst>
              <a:gd fmla="val 18462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7"/>
          <p:cNvSpPr/>
          <p:nvPr/>
        </p:nvSpPr>
        <p:spPr>
          <a:xfrm>
            <a:off x="5815584" y="3187446"/>
            <a:ext cx="109728" cy="109728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7"/>
          <p:cNvSpPr txBox="1"/>
          <p:nvPr/>
        </p:nvSpPr>
        <p:spPr>
          <a:xfrm>
            <a:off x="6035040" y="2994660"/>
            <a:ext cx="25146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Contact Activity Timeline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7"/>
          <p:cNvSpPr/>
          <p:nvPr/>
        </p:nvSpPr>
        <p:spPr>
          <a:xfrm>
            <a:off x="5669280" y="3581400"/>
            <a:ext cx="2971800" cy="495300"/>
          </a:xfrm>
          <a:prstGeom prst="roundRect">
            <a:avLst>
              <a:gd fmla="val 18462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7"/>
          <p:cNvSpPr/>
          <p:nvPr/>
        </p:nvSpPr>
        <p:spPr>
          <a:xfrm>
            <a:off x="5815584" y="3774186"/>
            <a:ext cx="109728" cy="109728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7"/>
          <p:cNvSpPr txBox="1"/>
          <p:nvPr/>
        </p:nvSpPr>
        <p:spPr>
          <a:xfrm>
            <a:off x="6035040" y="3581400"/>
            <a:ext cx="25146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Contact Notes</a:t>
            </a: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&amp;</a:t>
            </a: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Attachments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7"/>
          <p:cNvSpPr txBox="1"/>
          <p:nvPr>
            <p:ph idx="4294967295" type="sldNum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7"/>
          <p:cNvSpPr/>
          <p:nvPr/>
        </p:nvSpPr>
        <p:spPr>
          <a:xfrm>
            <a:off x="5715005" y="4179155"/>
            <a:ext cx="2971800" cy="495300"/>
          </a:xfrm>
          <a:prstGeom prst="roundRect">
            <a:avLst>
              <a:gd fmla="val 18462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7"/>
          <p:cNvSpPr/>
          <p:nvPr/>
        </p:nvSpPr>
        <p:spPr>
          <a:xfrm>
            <a:off x="5861309" y="4371941"/>
            <a:ext cx="109800" cy="10980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7"/>
          <p:cNvSpPr txBox="1"/>
          <p:nvPr/>
        </p:nvSpPr>
        <p:spPr>
          <a:xfrm>
            <a:off x="6080765" y="4179155"/>
            <a:ext cx="25146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Voice memo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8"/>
          <p:cNvSpPr txBox="1"/>
          <p:nvPr>
            <p:ph type="title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lang="en-US" sz="3200">
                <a:solidFill>
                  <a:schemeClr val="dk1"/>
                </a:solidFill>
              </a:rPr>
              <a:t>AI Business Card &amp; Lead Capture</a:t>
            </a:r>
            <a:endParaRPr sz="3200"/>
          </a:p>
        </p:txBody>
      </p:sp>
      <p:sp>
        <p:nvSpPr>
          <p:cNvPr id="269" name="Google Shape;269;p8"/>
          <p:cNvSpPr/>
          <p:nvPr/>
        </p:nvSpPr>
        <p:spPr>
          <a:xfrm>
            <a:off x="457200" y="1188720"/>
            <a:ext cx="1828800" cy="3520440"/>
          </a:xfrm>
          <a:prstGeom prst="roundRect">
            <a:avLst>
              <a:gd fmla="val 7000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8"/>
          <p:cNvSpPr/>
          <p:nvPr/>
        </p:nvSpPr>
        <p:spPr>
          <a:xfrm>
            <a:off x="777240" y="1463040"/>
            <a:ext cx="731520" cy="731520"/>
          </a:xfrm>
          <a:prstGeom prst="ellipse">
            <a:avLst/>
          </a:prstGeom>
          <a:solidFill>
            <a:schemeClr val="accent3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IdCard" id="271" name="Google Shape;27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120" y="16459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8"/>
          <p:cNvSpPr txBox="1"/>
          <p:nvPr/>
        </p:nvSpPr>
        <p:spPr>
          <a:xfrm>
            <a:off x="685800" y="2423160"/>
            <a:ext cx="1371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8"/>
          <p:cNvSpPr txBox="1"/>
          <p:nvPr/>
        </p:nvSpPr>
        <p:spPr>
          <a:xfrm>
            <a:off x="685800" y="320040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Module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8"/>
          <p:cNvSpPr txBox="1"/>
          <p:nvPr/>
        </p:nvSpPr>
        <p:spPr>
          <a:xfrm>
            <a:off x="685800" y="347472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 features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8"/>
          <p:cNvSpPr/>
          <p:nvPr/>
        </p:nvSpPr>
        <p:spPr>
          <a:xfrm>
            <a:off x="2514600" y="1348740"/>
            <a:ext cx="2971800" cy="731520"/>
          </a:xfrm>
          <a:prstGeom prst="roundRect">
            <a:avLst>
              <a:gd fmla="val 12500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8"/>
          <p:cNvSpPr/>
          <p:nvPr/>
        </p:nvSpPr>
        <p:spPr>
          <a:xfrm>
            <a:off x="2660904" y="1659636"/>
            <a:ext cx="109728" cy="109728"/>
          </a:xfrm>
          <a:prstGeom prst="ellipse">
            <a:avLst/>
          </a:prstGeom>
          <a:solidFill>
            <a:schemeClr val="accent3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8"/>
          <p:cNvSpPr txBox="1"/>
          <p:nvPr/>
        </p:nvSpPr>
        <p:spPr>
          <a:xfrm>
            <a:off x="2880360" y="1348740"/>
            <a:ext cx="2514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Business Card Scanning (OCR)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8"/>
          <p:cNvSpPr/>
          <p:nvPr/>
        </p:nvSpPr>
        <p:spPr>
          <a:xfrm>
            <a:off x="2514600" y="2171700"/>
            <a:ext cx="2971800" cy="731520"/>
          </a:xfrm>
          <a:prstGeom prst="roundRect">
            <a:avLst>
              <a:gd fmla="val 12500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8"/>
          <p:cNvSpPr/>
          <p:nvPr/>
        </p:nvSpPr>
        <p:spPr>
          <a:xfrm>
            <a:off x="2660904" y="2482596"/>
            <a:ext cx="109728" cy="109728"/>
          </a:xfrm>
          <a:prstGeom prst="ellipse">
            <a:avLst/>
          </a:prstGeom>
          <a:solidFill>
            <a:schemeClr val="accent3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8"/>
          <p:cNvSpPr txBox="1"/>
          <p:nvPr/>
        </p:nvSpPr>
        <p:spPr>
          <a:xfrm>
            <a:off x="2880360" y="2171700"/>
            <a:ext cx="2514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Bulk Business Card 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 excel/csv/pdf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8"/>
          <p:cNvSpPr/>
          <p:nvPr/>
        </p:nvSpPr>
        <p:spPr>
          <a:xfrm>
            <a:off x="2514600" y="2994660"/>
            <a:ext cx="2971800" cy="731520"/>
          </a:xfrm>
          <a:prstGeom prst="roundRect">
            <a:avLst>
              <a:gd fmla="val 12500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8"/>
          <p:cNvSpPr/>
          <p:nvPr/>
        </p:nvSpPr>
        <p:spPr>
          <a:xfrm>
            <a:off x="2660904" y="3305556"/>
            <a:ext cx="109728" cy="109728"/>
          </a:xfrm>
          <a:prstGeom prst="ellipse">
            <a:avLst/>
          </a:prstGeom>
          <a:solidFill>
            <a:schemeClr val="accent3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8"/>
          <p:cNvSpPr txBox="1"/>
          <p:nvPr/>
        </p:nvSpPr>
        <p:spPr>
          <a:xfrm>
            <a:off x="2880360" y="2994660"/>
            <a:ext cx="2514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Automatic Contact Information Extraction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8"/>
          <p:cNvSpPr/>
          <p:nvPr/>
        </p:nvSpPr>
        <p:spPr>
          <a:xfrm>
            <a:off x="2514600" y="3817620"/>
            <a:ext cx="2971800" cy="731520"/>
          </a:xfrm>
          <a:prstGeom prst="roundRect">
            <a:avLst>
              <a:gd fmla="val 12500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8"/>
          <p:cNvSpPr/>
          <p:nvPr/>
        </p:nvSpPr>
        <p:spPr>
          <a:xfrm>
            <a:off x="2660904" y="4128516"/>
            <a:ext cx="109728" cy="109728"/>
          </a:xfrm>
          <a:prstGeom prst="ellipse">
            <a:avLst/>
          </a:prstGeom>
          <a:solidFill>
            <a:schemeClr val="accent3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8"/>
          <p:cNvSpPr txBox="1"/>
          <p:nvPr/>
        </p:nvSpPr>
        <p:spPr>
          <a:xfrm>
            <a:off x="2880360" y="3817620"/>
            <a:ext cx="2514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Contact &amp; Company Enrichment</a:t>
            </a:r>
            <a:b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(EX:Linkedin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Email, Phone, Whatsapp)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8"/>
          <p:cNvSpPr/>
          <p:nvPr/>
        </p:nvSpPr>
        <p:spPr>
          <a:xfrm>
            <a:off x="5669280" y="1348740"/>
            <a:ext cx="2971800" cy="731520"/>
          </a:xfrm>
          <a:prstGeom prst="roundRect">
            <a:avLst>
              <a:gd fmla="val 12500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8"/>
          <p:cNvSpPr/>
          <p:nvPr/>
        </p:nvSpPr>
        <p:spPr>
          <a:xfrm>
            <a:off x="5815584" y="1659636"/>
            <a:ext cx="109728" cy="109728"/>
          </a:xfrm>
          <a:prstGeom prst="ellipse">
            <a:avLst/>
          </a:prstGeom>
          <a:solidFill>
            <a:schemeClr val="accent3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8"/>
          <p:cNvSpPr txBox="1"/>
          <p:nvPr/>
        </p:nvSpPr>
        <p:spPr>
          <a:xfrm>
            <a:off x="6035040" y="1348740"/>
            <a:ext cx="2514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Duplicate Detection &amp; Merging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8"/>
          <p:cNvSpPr/>
          <p:nvPr/>
        </p:nvSpPr>
        <p:spPr>
          <a:xfrm>
            <a:off x="5669280" y="2171700"/>
            <a:ext cx="2971800" cy="731520"/>
          </a:xfrm>
          <a:prstGeom prst="roundRect">
            <a:avLst>
              <a:gd fmla="val 12500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8"/>
          <p:cNvSpPr/>
          <p:nvPr/>
        </p:nvSpPr>
        <p:spPr>
          <a:xfrm>
            <a:off x="5815584" y="2482596"/>
            <a:ext cx="109728" cy="109728"/>
          </a:xfrm>
          <a:prstGeom prst="ellipse">
            <a:avLst/>
          </a:prstGeom>
          <a:solidFill>
            <a:schemeClr val="accent3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8"/>
          <p:cNvSpPr txBox="1"/>
          <p:nvPr/>
        </p:nvSpPr>
        <p:spPr>
          <a:xfrm>
            <a:off x="6035040" y="2171700"/>
            <a:ext cx="2514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Lead Classification, Qualification &amp; Scoring. Custom Classification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rules.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8"/>
          <p:cNvSpPr/>
          <p:nvPr/>
        </p:nvSpPr>
        <p:spPr>
          <a:xfrm>
            <a:off x="5669280" y="2994660"/>
            <a:ext cx="2971800" cy="731520"/>
          </a:xfrm>
          <a:prstGeom prst="roundRect">
            <a:avLst>
              <a:gd fmla="val 12500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8"/>
          <p:cNvSpPr/>
          <p:nvPr/>
        </p:nvSpPr>
        <p:spPr>
          <a:xfrm>
            <a:off x="5815584" y="3305556"/>
            <a:ext cx="109728" cy="109728"/>
          </a:xfrm>
          <a:prstGeom prst="ellipse">
            <a:avLst/>
          </a:prstGeom>
          <a:solidFill>
            <a:schemeClr val="accent3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8"/>
          <p:cNvSpPr txBox="1"/>
          <p:nvPr/>
        </p:nvSpPr>
        <p:spPr>
          <a:xfrm>
            <a:off x="6035040" y="2994660"/>
            <a:ext cx="2514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Lead Source Tracking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8"/>
          <p:cNvSpPr/>
          <p:nvPr/>
        </p:nvSpPr>
        <p:spPr>
          <a:xfrm>
            <a:off x="5669280" y="3817620"/>
            <a:ext cx="2971800" cy="731520"/>
          </a:xfrm>
          <a:prstGeom prst="roundRect">
            <a:avLst>
              <a:gd fmla="val 12500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8"/>
          <p:cNvSpPr/>
          <p:nvPr/>
        </p:nvSpPr>
        <p:spPr>
          <a:xfrm>
            <a:off x="5815584" y="4128516"/>
            <a:ext cx="109728" cy="109728"/>
          </a:xfrm>
          <a:prstGeom prst="ellipse">
            <a:avLst/>
          </a:prstGeom>
          <a:solidFill>
            <a:schemeClr val="accent3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8"/>
          <p:cNvSpPr txBox="1"/>
          <p:nvPr/>
        </p:nvSpPr>
        <p:spPr>
          <a:xfrm>
            <a:off x="6035040" y="3817620"/>
            <a:ext cx="2514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QR Code Lead Capture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8"/>
          <p:cNvSpPr txBox="1"/>
          <p:nvPr>
            <p:ph idx="4294967295" type="sldNum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9"/>
          <p:cNvSpPr txBox="1"/>
          <p:nvPr>
            <p:ph type="title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lang="en-US" sz="3200">
                <a:solidFill>
                  <a:schemeClr val="dk1"/>
                </a:solidFill>
              </a:rPr>
              <a:t>Sales Pipeline &amp; Deal Management</a:t>
            </a:r>
            <a:endParaRPr sz="3200"/>
          </a:p>
        </p:txBody>
      </p:sp>
      <p:sp>
        <p:nvSpPr>
          <p:cNvPr id="306" name="Google Shape;306;p9"/>
          <p:cNvSpPr/>
          <p:nvPr/>
        </p:nvSpPr>
        <p:spPr>
          <a:xfrm>
            <a:off x="457200" y="1188720"/>
            <a:ext cx="1828800" cy="3520440"/>
          </a:xfrm>
          <a:prstGeom prst="roundRect">
            <a:avLst>
              <a:gd fmla="val 7000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9"/>
          <p:cNvSpPr/>
          <p:nvPr/>
        </p:nvSpPr>
        <p:spPr>
          <a:xfrm>
            <a:off x="777240" y="1463040"/>
            <a:ext cx="731520" cy="731520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FunnelDollar" id="308" name="Google Shape;30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120" y="16459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9"/>
          <p:cNvSpPr txBox="1"/>
          <p:nvPr/>
        </p:nvSpPr>
        <p:spPr>
          <a:xfrm>
            <a:off x="685800" y="2423160"/>
            <a:ext cx="1371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9"/>
          <p:cNvSpPr txBox="1"/>
          <p:nvPr/>
        </p:nvSpPr>
        <p:spPr>
          <a:xfrm>
            <a:off x="685800" y="320040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Module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9"/>
          <p:cNvSpPr txBox="1"/>
          <p:nvPr/>
        </p:nvSpPr>
        <p:spPr>
          <a:xfrm>
            <a:off x="685800" y="347472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 features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9"/>
          <p:cNvSpPr/>
          <p:nvPr/>
        </p:nvSpPr>
        <p:spPr>
          <a:xfrm>
            <a:off x="2514600" y="1234440"/>
            <a:ext cx="2971800" cy="612648"/>
          </a:xfrm>
          <a:prstGeom prst="roundRect">
            <a:avLst>
              <a:gd fmla="val 14925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9"/>
          <p:cNvSpPr/>
          <p:nvPr/>
        </p:nvSpPr>
        <p:spPr>
          <a:xfrm>
            <a:off x="2660904" y="1485900"/>
            <a:ext cx="109728" cy="109728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9"/>
          <p:cNvSpPr txBox="1"/>
          <p:nvPr/>
        </p:nvSpPr>
        <p:spPr>
          <a:xfrm>
            <a:off x="2880360" y="1234440"/>
            <a:ext cx="2514600" cy="612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Sales Pipeline Management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9"/>
          <p:cNvSpPr/>
          <p:nvPr/>
        </p:nvSpPr>
        <p:spPr>
          <a:xfrm>
            <a:off x="2514600" y="1938528"/>
            <a:ext cx="2971800" cy="612648"/>
          </a:xfrm>
          <a:prstGeom prst="roundRect">
            <a:avLst>
              <a:gd fmla="val 14925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9"/>
          <p:cNvSpPr/>
          <p:nvPr/>
        </p:nvSpPr>
        <p:spPr>
          <a:xfrm>
            <a:off x="2660904" y="2189988"/>
            <a:ext cx="109728" cy="109728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9"/>
          <p:cNvSpPr txBox="1"/>
          <p:nvPr/>
        </p:nvSpPr>
        <p:spPr>
          <a:xfrm>
            <a:off x="2880360" y="1938528"/>
            <a:ext cx="2514600" cy="612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Customizable Deal Stages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9"/>
          <p:cNvSpPr/>
          <p:nvPr/>
        </p:nvSpPr>
        <p:spPr>
          <a:xfrm>
            <a:off x="2514600" y="2642616"/>
            <a:ext cx="2971800" cy="612648"/>
          </a:xfrm>
          <a:prstGeom prst="roundRect">
            <a:avLst>
              <a:gd fmla="val 14925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9"/>
          <p:cNvSpPr/>
          <p:nvPr/>
        </p:nvSpPr>
        <p:spPr>
          <a:xfrm>
            <a:off x="2660904" y="2894076"/>
            <a:ext cx="109728" cy="109728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9"/>
          <p:cNvSpPr txBox="1"/>
          <p:nvPr/>
        </p:nvSpPr>
        <p:spPr>
          <a:xfrm>
            <a:off x="2880360" y="2642616"/>
            <a:ext cx="2514600" cy="612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Deal &amp; Opportunity Management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9"/>
          <p:cNvSpPr/>
          <p:nvPr/>
        </p:nvSpPr>
        <p:spPr>
          <a:xfrm>
            <a:off x="2514600" y="3346704"/>
            <a:ext cx="2971800" cy="612648"/>
          </a:xfrm>
          <a:prstGeom prst="roundRect">
            <a:avLst>
              <a:gd fmla="val 14925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9"/>
          <p:cNvSpPr/>
          <p:nvPr/>
        </p:nvSpPr>
        <p:spPr>
          <a:xfrm>
            <a:off x="2660904" y="3598164"/>
            <a:ext cx="109728" cy="109728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9"/>
          <p:cNvSpPr txBox="1"/>
          <p:nvPr/>
        </p:nvSpPr>
        <p:spPr>
          <a:xfrm>
            <a:off x="2880360" y="3346704"/>
            <a:ext cx="2514600" cy="612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Lead Status Management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9"/>
          <p:cNvSpPr/>
          <p:nvPr/>
        </p:nvSpPr>
        <p:spPr>
          <a:xfrm>
            <a:off x="2514600" y="4050792"/>
            <a:ext cx="2971800" cy="612648"/>
          </a:xfrm>
          <a:prstGeom prst="roundRect">
            <a:avLst>
              <a:gd fmla="val 14925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9"/>
          <p:cNvSpPr/>
          <p:nvPr/>
        </p:nvSpPr>
        <p:spPr>
          <a:xfrm>
            <a:off x="2660904" y="4302252"/>
            <a:ext cx="109728" cy="109728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9"/>
          <p:cNvSpPr txBox="1"/>
          <p:nvPr/>
        </p:nvSpPr>
        <p:spPr>
          <a:xfrm>
            <a:off x="2880360" y="4050792"/>
            <a:ext cx="2514600" cy="612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Deal Value &amp; Expected Closing Date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9"/>
          <p:cNvSpPr/>
          <p:nvPr/>
        </p:nvSpPr>
        <p:spPr>
          <a:xfrm>
            <a:off x="5669280" y="1234440"/>
            <a:ext cx="2971800" cy="612648"/>
          </a:xfrm>
          <a:prstGeom prst="roundRect">
            <a:avLst>
              <a:gd fmla="val 14925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9"/>
          <p:cNvSpPr/>
          <p:nvPr/>
        </p:nvSpPr>
        <p:spPr>
          <a:xfrm>
            <a:off x="5815584" y="1485900"/>
            <a:ext cx="109728" cy="109728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9"/>
          <p:cNvSpPr txBox="1"/>
          <p:nvPr/>
        </p:nvSpPr>
        <p:spPr>
          <a:xfrm>
            <a:off x="6035040" y="1234440"/>
            <a:ext cx="2514600" cy="612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Sales Activities &amp; Follow-ups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9"/>
          <p:cNvSpPr/>
          <p:nvPr/>
        </p:nvSpPr>
        <p:spPr>
          <a:xfrm>
            <a:off x="5669280" y="1938528"/>
            <a:ext cx="2971800" cy="612648"/>
          </a:xfrm>
          <a:prstGeom prst="roundRect">
            <a:avLst>
              <a:gd fmla="val 14925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9"/>
          <p:cNvSpPr/>
          <p:nvPr/>
        </p:nvSpPr>
        <p:spPr>
          <a:xfrm>
            <a:off x="5815584" y="2189988"/>
            <a:ext cx="109728" cy="109728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9"/>
          <p:cNvSpPr txBox="1"/>
          <p:nvPr/>
        </p:nvSpPr>
        <p:spPr>
          <a:xfrm>
            <a:off x="6035040" y="1938528"/>
            <a:ext cx="2514600" cy="612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Reminder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9"/>
          <p:cNvSpPr/>
          <p:nvPr/>
        </p:nvSpPr>
        <p:spPr>
          <a:xfrm>
            <a:off x="5669280" y="2642616"/>
            <a:ext cx="2971800" cy="612648"/>
          </a:xfrm>
          <a:prstGeom prst="roundRect">
            <a:avLst>
              <a:gd fmla="val 14925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9"/>
          <p:cNvSpPr/>
          <p:nvPr/>
        </p:nvSpPr>
        <p:spPr>
          <a:xfrm>
            <a:off x="5815584" y="2894076"/>
            <a:ext cx="109728" cy="109728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9"/>
          <p:cNvSpPr txBox="1"/>
          <p:nvPr/>
        </p:nvSpPr>
        <p:spPr>
          <a:xfrm>
            <a:off x="6035040" y="2642616"/>
            <a:ext cx="2514600" cy="612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Sales Team Assignment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9"/>
          <p:cNvSpPr/>
          <p:nvPr/>
        </p:nvSpPr>
        <p:spPr>
          <a:xfrm>
            <a:off x="5669280" y="3346704"/>
            <a:ext cx="2971800" cy="612648"/>
          </a:xfrm>
          <a:prstGeom prst="roundRect">
            <a:avLst>
              <a:gd fmla="val 14925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9"/>
          <p:cNvSpPr/>
          <p:nvPr/>
        </p:nvSpPr>
        <p:spPr>
          <a:xfrm>
            <a:off x="5815584" y="3598164"/>
            <a:ext cx="109728" cy="109728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9"/>
          <p:cNvSpPr txBox="1"/>
          <p:nvPr/>
        </p:nvSpPr>
        <p:spPr>
          <a:xfrm>
            <a:off x="6035040" y="3346704"/>
            <a:ext cx="2514600" cy="612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Deal Activity History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9"/>
          <p:cNvSpPr txBox="1"/>
          <p:nvPr>
            <p:ph idx="4294967295" type="sldNum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0"/>
          <p:cNvSpPr txBox="1"/>
          <p:nvPr>
            <p:ph type="title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lang="en-US" sz="3200">
                <a:solidFill>
                  <a:schemeClr val="dk1"/>
                </a:solidFill>
              </a:rPr>
              <a:t>Email Inbox Management</a:t>
            </a:r>
            <a:endParaRPr sz="3200"/>
          </a:p>
        </p:txBody>
      </p:sp>
      <p:sp>
        <p:nvSpPr>
          <p:cNvPr id="346" name="Google Shape;346;p10"/>
          <p:cNvSpPr/>
          <p:nvPr/>
        </p:nvSpPr>
        <p:spPr>
          <a:xfrm>
            <a:off x="457200" y="1188720"/>
            <a:ext cx="1828800" cy="3520440"/>
          </a:xfrm>
          <a:prstGeom prst="roundRect">
            <a:avLst>
              <a:gd fmla="val 7000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0"/>
          <p:cNvSpPr/>
          <p:nvPr/>
        </p:nvSpPr>
        <p:spPr>
          <a:xfrm>
            <a:off x="777240" y="1463040"/>
            <a:ext cx="731520" cy="731520"/>
          </a:xfrm>
          <a:prstGeom prst="ellipse">
            <a:avLst/>
          </a:prstGeom>
          <a:solidFill>
            <a:schemeClr val="accent5"/>
          </a:solidFill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Inbox" id="348" name="Google Shape;34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120" y="16459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10"/>
          <p:cNvSpPr txBox="1"/>
          <p:nvPr/>
        </p:nvSpPr>
        <p:spPr>
          <a:xfrm>
            <a:off x="685800" y="2423160"/>
            <a:ext cx="1371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0"/>
          <p:cNvSpPr txBox="1"/>
          <p:nvPr/>
        </p:nvSpPr>
        <p:spPr>
          <a:xfrm>
            <a:off x="685800" y="320040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Module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0"/>
          <p:cNvSpPr txBox="1"/>
          <p:nvPr/>
        </p:nvSpPr>
        <p:spPr>
          <a:xfrm>
            <a:off x="685800" y="347472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 features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0"/>
          <p:cNvSpPr/>
          <p:nvPr/>
        </p:nvSpPr>
        <p:spPr>
          <a:xfrm>
            <a:off x="2514600" y="1234440"/>
            <a:ext cx="2971800" cy="612648"/>
          </a:xfrm>
          <a:prstGeom prst="roundRect">
            <a:avLst>
              <a:gd fmla="val 14925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0"/>
          <p:cNvSpPr/>
          <p:nvPr/>
        </p:nvSpPr>
        <p:spPr>
          <a:xfrm>
            <a:off x="2660904" y="1485900"/>
            <a:ext cx="109728" cy="109728"/>
          </a:xfrm>
          <a:prstGeom prst="ellipse">
            <a:avLst/>
          </a:prstGeom>
          <a:solidFill>
            <a:schemeClr val="accent5"/>
          </a:solidFill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0"/>
          <p:cNvSpPr txBox="1"/>
          <p:nvPr/>
        </p:nvSpPr>
        <p:spPr>
          <a:xfrm>
            <a:off x="2880360" y="1234440"/>
            <a:ext cx="2514600" cy="612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Email Account Integration (Gmail, Outlook, IMAP/SMTP)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0"/>
          <p:cNvSpPr/>
          <p:nvPr/>
        </p:nvSpPr>
        <p:spPr>
          <a:xfrm>
            <a:off x="2514600" y="1938528"/>
            <a:ext cx="2971800" cy="612648"/>
          </a:xfrm>
          <a:prstGeom prst="roundRect">
            <a:avLst>
              <a:gd fmla="val 14925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0"/>
          <p:cNvSpPr/>
          <p:nvPr/>
        </p:nvSpPr>
        <p:spPr>
          <a:xfrm>
            <a:off x="2660904" y="2189988"/>
            <a:ext cx="109728" cy="109728"/>
          </a:xfrm>
          <a:prstGeom prst="ellipse">
            <a:avLst/>
          </a:prstGeom>
          <a:solidFill>
            <a:schemeClr val="accent5"/>
          </a:solidFill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0"/>
          <p:cNvSpPr txBox="1"/>
          <p:nvPr/>
        </p:nvSpPr>
        <p:spPr>
          <a:xfrm>
            <a:off x="2880360" y="1938528"/>
            <a:ext cx="2514600" cy="612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Multiple Inbox Management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0"/>
          <p:cNvSpPr/>
          <p:nvPr/>
        </p:nvSpPr>
        <p:spPr>
          <a:xfrm>
            <a:off x="2514600" y="2642616"/>
            <a:ext cx="2971800" cy="612648"/>
          </a:xfrm>
          <a:prstGeom prst="roundRect">
            <a:avLst>
              <a:gd fmla="val 14925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0"/>
          <p:cNvSpPr/>
          <p:nvPr/>
        </p:nvSpPr>
        <p:spPr>
          <a:xfrm>
            <a:off x="2660904" y="2894076"/>
            <a:ext cx="109728" cy="109728"/>
          </a:xfrm>
          <a:prstGeom prst="ellipse">
            <a:avLst/>
          </a:prstGeom>
          <a:solidFill>
            <a:schemeClr val="accent5"/>
          </a:solidFill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0"/>
          <p:cNvSpPr txBox="1"/>
          <p:nvPr/>
        </p:nvSpPr>
        <p:spPr>
          <a:xfrm>
            <a:off x="2880360" y="2642616"/>
            <a:ext cx="2514600" cy="612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Two-Way Email Synchronization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0"/>
          <p:cNvSpPr/>
          <p:nvPr/>
        </p:nvSpPr>
        <p:spPr>
          <a:xfrm>
            <a:off x="2514600" y="3346704"/>
            <a:ext cx="2971800" cy="612648"/>
          </a:xfrm>
          <a:prstGeom prst="roundRect">
            <a:avLst>
              <a:gd fmla="val 14925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0"/>
          <p:cNvSpPr/>
          <p:nvPr/>
        </p:nvSpPr>
        <p:spPr>
          <a:xfrm>
            <a:off x="2660904" y="3598164"/>
            <a:ext cx="109728" cy="109728"/>
          </a:xfrm>
          <a:prstGeom prst="ellipse">
            <a:avLst/>
          </a:prstGeom>
          <a:solidFill>
            <a:schemeClr val="accent5"/>
          </a:solidFill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0"/>
          <p:cNvSpPr txBox="1"/>
          <p:nvPr/>
        </p:nvSpPr>
        <p:spPr>
          <a:xfrm>
            <a:off x="2880360" y="3346704"/>
            <a:ext cx="2514600" cy="612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Send, Receive, Reply &amp; Forward Emails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0"/>
          <p:cNvSpPr/>
          <p:nvPr/>
        </p:nvSpPr>
        <p:spPr>
          <a:xfrm>
            <a:off x="2514600" y="4050792"/>
            <a:ext cx="2971800" cy="612648"/>
          </a:xfrm>
          <a:prstGeom prst="roundRect">
            <a:avLst>
              <a:gd fmla="val 14925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0"/>
          <p:cNvSpPr/>
          <p:nvPr/>
        </p:nvSpPr>
        <p:spPr>
          <a:xfrm>
            <a:off x="2660904" y="4302252"/>
            <a:ext cx="109728" cy="109728"/>
          </a:xfrm>
          <a:prstGeom prst="ellipse">
            <a:avLst/>
          </a:prstGeom>
          <a:solidFill>
            <a:schemeClr val="accent5"/>
          </a:solidFill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0"/>
          <p:cNvSpPr txBox="1"/>
          <p:nvPr/>
        </p:nvSpPr>
        <p:spPr>
          <a:xfrm>
            <a:off x="2880360" y="4050792"/>
            <a:ext cx="2514600" cy="612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Email Conversation Threads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0"/>
          <p:cNvSpPr/>
          <p:nvPr/>
        </p:nvSpPr>
        <p:spPr>
          <a:xfrm>
            <a:off x="5669280" y="1234440"/>
            <a:ext cx="2971800" cy="612648"/>
          </a:xfrm>
          <a:prstGeom prst="roundRect">
            <a:avLst>
              <a:gd fmla="val 14925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0"/>
          <p:cNvSpPr/>
          <p:nvPr/>
        </p:nvSpPr>
        <p:spPr>
          <a:xfrm>
            <a:off x="5815584" y="1485900"/>
            <a:ext cx="109728" cy="109728"/>
          </a:xfrm>
          <a:prstGeom prst="ellipse">
            <a:avLst/>
          </a:prstGeom>
          <a:solidFill>
            <a:schemeClr val="accent5"/>
          </a:solidFill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0"/>
          <p:cNvSpPr txBox="1"/>
          <p:nvPr/>
        </p:nvSpPr>
        <p:spPr>
          <a:xfrm>
            <a:off x="6035040" y="1234440"/>
            <a:ext cx="2514600" cy="612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CRM Contact Email History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0"/>
          <p:cNvSpPr/>
          <p:nvPr/>
        </p:nvSpPr>
        <p:spPr>
          <a:xfrm>
            <a:off x="5669280" y="1938528"/>
            <a:ext cx="2971800" cy="612648"/>
          </a:xfrm>
          <a:prstGeom prst="roundRect">
            <a:avLst>
              <a:gd fmla="val 14925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0"/>
          <p:cNvSpPr/>
          <p:nvPr/>
        </p:nvSpPr>
        <p:spPr>
          <a:xfrm>
            <a:off x="5815584" y="2189988"/>
            <a:ext cx="109728" cy="109728"/>
          </a:xfrm>
          <a:prstGeom prst="ellipse">
            <a:avLst/>
          </a:prstGeom>
          <a:solidFill>
            <a:schemeClr val="accent5"/>
          </a:solidFill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0"/>
          <p:cNvSpPr txBox="1"/>
          <p:nvPr/>
        </p:nvSpPr>
        <p:spPr>
          <a:xfrm>
            <a:off x="6035040" y="1938528"/>
            <a:ext cx="2514600" cy="612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Campaign Reply Tracking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0"/>
          <p:cNvSpPr/>
          <p:nvPr/>
        </p:nvSpPr>
        <p:spPr>
          <a:xfrm>
            <a:off x="5669280" y="2642616"/>
            <a:ext cx="2971800" cy="612648"/>
          </a:xfrm>
          <a:prstGeom prst="roundRect">
            <a:avLst>
              <a:gd fmla="val 14925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0"/>
          <p:cNvSpPr/>
          <p:nvPr/>
        </p:nvSpPr>
        <p:spPr>
          <a:xfrm>
            <a:off x="5815584" y="2894076"/>
            <a:ext cx="109728" cy="109728"/>
          </a:xfrm>
          <a:prstGeom prst="ellipse">
            <a:avLst/>
          </a:prstGeom>
          <a:solidFill>
            <a:schemeClr val="accent5"/>
          </a:solidFill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0"/>
          <p:cNvSpPr txBox="1"/>
          <p:nvPr/>
        </p:nvSpPr>
        <p:spPr>
          <a:xfrm>
            <a:off x="6035040" y="2642616"/>
            <a:ext cx="2514600" cy="612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Email Search &amp; Filtering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0"/>
          <p:cNvSpPr/>
          <p:nvPr/>
        </p:nvSpPr>
        <p:spPr>
          <a:xfrm>
            <a:off x="5669280" y="3346704"/>
            <a:ext cx="2971800" cy="612648"/>
          </a:xfrm>
          <a:prstGeom prst="roundRect">
            <a:avLst>
              <a:gd fmla="val 14925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0"/>
          <p:cNvSpPr/>
          <p:nvPr/>
        </p:nvSpPr>
        <p:spPr>
          <a:xfrm>
            <a:off x="5815584" y="3598164"/>
            <a:ext cx="109728" cy="109728"/>
          </a:xfrm>
          <a:prstGeom prst="ellipse">
            <a:avLst/>
          </a:prstGeom>
          <a:solidFill>
            <a:schemeClr val="accent5"/>
          </a:solidFill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0"/>
          <p:cNvSpPr txBox="1"/>
          <p:nvPr/>
        </p:nvSpPr>
        <p:spPr>
          <a:xfrm>
            <a:off x="6035040" y="3346704"/>
            <a:ext cx="2514600" cy="612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Inbox Connection Settings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0"/>
          <p:cNvSpPr/>
          <p:nvPr/>
        </p:nvSpPr>
        <p:spPr>
          <a:xfrm>
            <a:off x="5669280" y="4050792"/>
            <a:ext cx="2971800" cy="612648"/>
          </a:xfrm>
          <a:prstGeom prst="roundRect">
            <a:avLst>
              <a:gd fmla="val 14925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0"/>
          <p:cNvSpPr/>
          <p:nvPr/>
        </p:nvSpPr>
        <p:spPr>
          <a:xfrm>
            <a:off x="5815584" y="4302252"/>
            <a:ext cx="109728" cy="109728"/>
          </a:xfrm>
          <a:prstGeom prst="ellipse">
            <a:avLst/>
          </a:prstGeom>
          <a:solidFill>
            <a:schemeClr val="accent5"/>
          </a:solidFill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0"/>
          <p:cNvSpPr txBox="1"/>
          <p:nvPr/>
        </p:nvSpPr>
        <p:spPr>
          <a:xfrm>
            <a:off x="6035040" y="4050792"/>
            <a:ext cx="2514600" cy="612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WhatsApp Business Integration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0"/>
          <p:cNvSpPr txBox="1"/>
          <p:nvPr>
            <p:ph idx="4294967295" type="sldNum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1"/>
          <p:cNvSpPr txBox="1"/>
          <p:nvPr>
            <p:ph type="title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lang="en-US" sz="3200">
                <a:solidFill>
                  <a:schemeClr val="dk1"/>
                </a:solidFill>
              </a:rPr>
              <a:t>Email Campaign Management</a:t>
            </a:r>
            <a:endParaRPr sz="3200"/>
          </a:p>
        </p:txBody>
      </p:sp>
      <p:sp>
        <p:nvSpPr>
          <p:cNvPr id="389" name="Google Shape;389;p11"/>
          <p:cNvSpPr/>
          <p:nvPr/>
        </p:nvSpPr>
        <p:spPr>
          <a:xfrm>
            <a:off x="457200" y="1188720"/>
            <a:ext cx="1828800" cy="3520440"/>
          </a:xfrm>
          <a:prstGeom prst="roundRect">
            <a:avLst>
              <a:gd fmla="val 7000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1"/>
          <p:cNvSpPr/>
          <p:nvPr/>
        </p:nvSpPr>
        <p:spPr>
          <a:xfrm>
            <a:off x="777240" y="1463040"/>
            <a:ext cx="731520" cy="73152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Bullhorn" id="391" name="Google Shape;39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120" y="16459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11"/>
          <p:cNvSpPr txBox="1"/>
          <p:nvPr/>
        </p:nvSpPr>
        <p:spPr>
          <a:xfrm>
            <a:off x="685800" y="2423160"/>
            <a:ext cx="1371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1"/>
          <p:cNvSpPr txBox="1"/>
          <p:nvPr/>
        </p:nvSpPr>
        <p:spPr>
          <a:xfrm>
            <a:off x="685800" y="320040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Module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1"/>
          <p:cNvSpPr txBox="1"/>
          <p:nvPr/>
        </p:nvSpPr>
        <p:spPr>
          <a:xfrm>
            <a:off x="685800" y="347472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 features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1"/>
          <p:cNvSpPr/>
          <p:nvPr/>
        </p:nvSpPr>
        <p:spPr>
          <a:xfrm>
            <a:off x="2514600" y="1234440"/>
            <a:ext cx="2971800" cy="411480"/>
          </a:xfrm>
          <a:prstGeom prst="roundRect">
            <a:avLst>
              <a:gd fmla="val 22222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1"/>
          <p:cNvSpPr/>
          <p:nvPr/>
        </p:nvSpPr>
        <p:spPr>
          <a:xfrm>
            <a:off x="2660904" y="1385316"/>
            <a:ext cx="109728" cy="109728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1"/>
          <p:cNvSpPr txBox="1"/>
          <p:nvPr/>
        </p:nvSpPr>
        <p:spPr>
          <a:xfrm>
            <a:off x="2880360" y="1234440"/>
            <a:ext cx="2514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Email Campaign Creation &amp; Management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1"/>
          <p:cNvSpPr/>
          <p:nvPr/>
        </p:nvSpPr>
        <p:spPr>
          <a:xfrm>
            <a:off x="2514600" y="1737360"/>
            <a:ext cx="2971800" cy="411480"/>
          </a:xfrm>
          <a:prstGeom prst="roundRect">
            <a:avLst>
              <a:gd fmla="val 22222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1"/>
          <p:cNvSpPr/>
          <p:nvPr/>
        </p:nvSpPr>
        <p:spPr>
          <a:xfrm>
            <a:off x="2660904" y="1888236"/>
            <a:ext cx="109728" cy="109728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1"/>
          <p:cNvSpPr txBox="1"/>
          <p:nvPr/>
        </p:nvSpPr>
        <p:spPr>
          <a:xfrm>
            <a:off x="2880360" y="1737360"/>
            <a:ext cx="2514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Contact Lists &amp; Audience Segmentation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1"/>
          <p:cNvSpPr/>
          <p:nvPr/>
        </p:nvSpPr>
        <p:spPr>
          <a:xfrm>
            <a:off x="2514600" y="2240280"/>
            <a:ext cx="2971800" cy="411480"/>
          </a:xfrm>
          <a:prstGeom prst="roundRect">
            <a:avLst>
              <a:gd fmla="val 22222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1"/>
          <p:cNvSpPr/>
          <p:nvPr/>
        </p:nvSpPr>
        <p:spPr>
          <a:xfrm>
            <a:off x="2660904" y="2391156"/>
            <a:ext cx="109728" cy="109728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1"/>
          <p:cNvSpPr txBox="1"/>
          <p:nvPr/>
        </p:nvSpPr>
        <p:spPr>
          <a:xfrm>
            <a:off x="2880360" y="2240280"/>
            <a:ext cx="2514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Email Template Management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1"/>
          <p:cNvSpPr/>
          <p:nvPr/>
        </p:nvSpPr>
        <p:spPr>
          <a:xfrm>
            <a:off x="2514600" y="2743200"/>
            <a:ext cx="2971800" cy="411480"/>
          </a:xfrm>
          <a:prstGeom prst="roundRect">
            <a:avLst>
              <a:gd fmla="val 22222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1"/>
          <p:cNvSpPr/>
          <p:nvPr/>
        </p:nvSpPr>
        <p:spPr>
          <a:xfrm>
            <a:off x="2660904" y="2894076"/>
            <a:ext cx="109728" cy="109728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1"/>
          <p:cNvSpPr txBox="1"/>
          <p:nvPr/>
        </p:nvSpPr>
        <p:spPr>
          <a:xfrm>
            <a:off x="2880360" y="2743200"/>
            <a:ext cx="2514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Email Content Generation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1"/>
          <p:cNvSpPr/>
          <p:nvPr/>
        </p:nvSpPr>
        <p:spPr>
          <a:xfrm>
            <a:off x="2514600" y="3246120"/>
            <a:ext cx="2971800" cy="411480"/>
          </a:xfrm>
          <a:prstGeom prst="roundRect">
            <a:avLst>
              <a:gd fmla="val 22222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1"/>
          <p:cNvSpPr/>
          <p:nvPr/>
        </p:nvSpPr>
        <p:spPr>
          <a:xfrm>
            <a:off x="2660904" y="3396996"/>
            <a:ext cx="109728" cy="109728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1"/>
          <p:cNvSpPr txBox="1"/>
          <p:nvPr/>
        </p:nvSpPr>
        <p:spPr>
          <a:xfrm>
            <a:off x="2880360" y="3246120"/>
            <a:ext cx="2514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Email Personalization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1"/>
          <p:cNvSpPr/>
          <p:nvPr/>
        </p:nvSpPr>
        <p:spPr>
          <a:xfrm>
            <a:off x="2514600" y="3749040"/>
            <a:ext cx="2971800" cy="411480"/>
          </a:xfrm>
          <a:prstGeom prst="roundRect">
            <a:avLst>
              <a:gd fmla="val 22222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1"/>
          <p:cNvSpPr/>
          <p:nvPr/>
        </p:nvSpPr>
        <p:spPr>
          <a:xfrm>
            <a:off x="2660904" y="3899916"/>
            <a:ext cx="109728" cy="109728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1"/>
          <p:cNvSpPr txBox="1"/>
          <p:nvPr/>
        </p:nvSpPr>
        <p:spPr>
          <a:xfrm>
            <a:off x="2880360" y="3749040"/>
            <a:ext cx="2514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Bulk Email Sending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1"/>
          <p:cNvSpPr/>
          <p:nvPr/>
        </p:nvSpPr>
        <p:spPr>
          <a:xfrm>
            <a:off x="2514600" y="4251960"/>
            <a:ext cx="2971800" cy="411480"/>
          </a:xfrm>
          <a:prstGeom prst="roundRect">
            <a:avLst>
              <a:gd fmla="val 22222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1"/>
          <p:cNvSpPr/>
          <p:nvPr/>
        </p:nvSpPr>
        <p:spPr>
          <a:xfrm>
            <a:off x="2660904" y="4402836"/>
            <a:ext cx="109728" cy="109728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1"/>
          <p:cNvSpPr txBox="1"/>
          <p:nvPr/>
        </p:nvSpPr>
        <p:spPr>
          <a:xfrm>
            <a:off x="2880360" y="4251960"/>
            <a:ext cx="2514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Email Campaign Scheduling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1"/>
          <p:cNvSpPr/>
          <p:nvPr/>
        </p:nvSpPr>
        <p:spPr>
          <a:xfrm>
            <a:off x="5669280" y="1234440"/>
            <a:ext cx="2971800" cy="411480"/>
          </a:xfrm>
          <a:prstGeom prst="roundRect">
            <a:avLst>
              <a:gd fmla="val 22222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1"/>
          <p:cNvSpPr/>
          <p:nvPr/>
        </p:nvSpPr>
        <p:spPr>
          <a:xfrm>
            <a:off x="5815584" y="1385316"/>
            <a:ext cx="109728" cy="109728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1"/>
          <p:cNvSpPr txBox="1"/>
          <p:nvPr/>
        </p:nvSpPr>
        <p:spPr>
          <a:xfrm>
            <a:off x="6035040" y="1234440"/>
            <a:ext cx="2514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 Email &amp; Preview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1"/>
          <p:cNvSpPr/>
          <p:nvPr/>
        </p:nvSpPr>
        <p:spPr>
          <a:xfrm>
            <a:off x="5669280" y="1737360"/>
            <a:ext cx="2971800" cy="411480"/>
          </a:xfrm>
          <a:prstGeom prst="roundRect">
            <a:avLst>
              <a:gd fmla="val 22222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1"/>
          <p:cNvSpPr/>
          <p:nvPr/>
        </p:nvSpPr>
        <p:spPr>
          <a:xfrm>
            <a:off x="5815584" y="1888236"/>
            <a:ext cx="109728" cy="109728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1"/>
          <p:cNvSpPr txBox="1"/>
          <p:nvPr/>
        </p:nvSpPr>
        <p:spPr>
          <a:xfrm>
            <a:off x="6035040" y="1737360"/>
            <a:ext cx="2514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Campaign Analytics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1"/>
          <p:cNvSpPr/>
          <p:nvPr/>
        </p:nvSpPr>
        <p:spPr>
          <a:xfrm>
            <a:off x="5669280" y="2240280"/>
            <a:ext cx="2971800" cy="411480"/>
          </a:xfrm>
          <a:prstGeom prst="roundRect">
            <a:avLst>
              <a:gd fmla="val 22222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1"/>
          <p:cNvSpPr/>
          <p:nvPr/>
        </p:nvSpPr>
        <p:spPr>
          <a:xfrm>
            <a:off x="5815584" y="2391156"/>
            <a:ext cx="109728" cy="109728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1"/>
          <p:cNvSpPr txBox="1"/>
          <p:nvPr/>
        </p:nvSpPr>
        <p:spPr>
          <a:xfrm>
            <a:off x="6035040" y="2240280"/>
            <a:ext cx="2514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Email Open &amp; Click Tracking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1"/>
          <p:cNvSpPr/>
          <p:nvPr/>
        </p:nvSpPr>
        <p:spPr>
          <a:xfrm>
            <a:off x="5669280" y="2743200"/>
            <a:ext cx="2971800" cy="411480"/>
          </a:xfrm>
          <a:prstGeom prst="roundRect">
            <a:avLst>
              <a:gd fmla="val 22222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1"/>
          <p:cNvSpPr/>
          <p:nvPr/>
        </p:nvSpPr>
        <p:spPr>
          <a:xfrm>
            <a:off x="5815584" y="2894076"/>
            <a:ext cx="109728" cy="109728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1"/>
          <p:cNvSpPr txBox="1"/>
          <p:nvPr/>
        </p:nvSpPr>
        <p:spPr>
          <a:xfrm>
            <a:off x="6035040" y="2743200"/>
            <a:ext cx="2514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Bounce &amp; Delivery Tracking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1"/>
          <p:cNvSpPr/>
          <p:nvPr/>
        </p:nvSpPr>
        <p:spPr>
          <a:xfrm>
            <a:off x="5669280" y="3246120"/>
            <a:ext cx="2971800" cy="411480"/>
          </a:xfrm>
          <a:prstGeom prst="roundRect">
            <a:avLst>
              <a:gd fmla="val 22222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1"/>
          <p:cNvSpPr/>
          <p:nvPr/>
        </p:nvSpPr>
        <p:spPr>
          <a:xfrm>
            <a:off x="5815584" y="3396996"/>
            <a:ext cx="109728" cy="109728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1"/>
          <p:cNvSpPr txBox="1"/>
          <p:nvPr/>
        </p:nvSpPr>
        <p:spPr>
          <a:xfrm>
            <a:off x="6035040" y="3246120"/>
            <a:ext cx="2514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Unsubscribe Management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1"/>
          <p:cNvSpPr/>
          <p:nvPr/>
        </p:nvSpPr>
        <p:spPr>
          <a:xfrm>
            <a:off x="5669280" y="3749040"/>
            <a:ext cx="2971800" cy="411480"/>
          </a:xfrm>
          <a:prstGeom prst="roundRect">
            <a:avLst>
              <a:gd fmla="val 22222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1"/>
          <p:cNvSpPr/>
          <p:nvPr/>
        </p:nvSpPr>
        <p:spPr>
          <a:xfrm>
            <a:off x="5815584" y="3899916"/>
            <a:ext cx="109728" cy="109728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1"/>
          <p:cNvSpPr txBox="1"/>
          <p:nvPr/>
        </p:nvSpPr>
        <p:spPr>
          <a:xfrm>
            <a:off x="6035040" y="3749040"/>
            <a:ext cx="2514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Campaign History &amp; Reporting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1"/>
          <p:cNvSpPr txBox="1"/>
          <p:nvPr>
            <p:ph idx="4294967295" type="sldNum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2"/>
          <p:cNvSpPr txBox="1"/>
          <p:nvPr>
            <p:ph type="title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lang="en-US" sz="3200">
                <a:solidFill>
                  <a:schemeClr val="dk1"/>
                </a:solidFill>
              </a:rPr>
              <a:t>AI CRM Assistant</a:t>
            </a:r>
            <a:endParaRPr sz="3200"/>
          </a:p>
        </p:txBody>
      </p:sp>
      <p:sp>
        <p:nvSpPr>
          <p:cNvPr id="441" name="Google Shape;441;p12"/>
          <p:cNvSpPr/>
          <p:nvPr/>
        </p:nvSpPr>
        <p:spPr>
          <a:xfrm>
            <a:off x="457200" y="1188720"/>
            <a:ext cx="1828800" cy="3520440"/>
          </a:xfrm>
          <a:prstGeom prst="roundRect">
            <a:avLst>
              <a:gd fmla="val 7000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2"/>
          <p:cNvSpPr/>
          <p:nvPr/>
        </p:nvSpPr>
        <p:spPr>
          <a:xfrm>
            <a:off x="777240" y="1463040"/>
            <a:ext cx="731520" cy="73152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Robot" id="443" name="Google Shape;44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120" y="16459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12"/>
          <p:cNvSpPr txBox="1"/>
          <p:nvPr/>
        </p:nvSpPr>
        <p:spPr>
          <a:xfrm>
            <a:off x="685800" y="2423160"/>
            <a:ext cx="1371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2"/>
          <p:cNvSpPr txBox="1"/>
          <p:nvPr/>
        </p:nvSpPr>
        <p:spPr>
          <a:xfrm>
            <a:off x="685800" y="320040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Module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2"/>
          <p:cNvSpPr txBox="1"/>
          <p:nvPr/>
        </p:nvSpPr>
        <p:spPr>
          <a:xfrm>
            <a:off x="685800" y="347472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 features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2"/>
          <p:cNvSpPr/>
          <p:nvPr/>
        </p:nvSpPr>
        <p:spPr>
          <a:xfrm>
            <a:off x="2514600" y="1348740"/>
            <a:ext cx="2971800" cy="731520"/>
          </a:xfrm>
          <a:prstGeom prst="roundRect">
            <a:avLst>
              <a:gd fmla="val 12500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2"/>
          <p:cNvSpPr/>
          <p:nvPr/>
        </p:nvSpPr>
        <p:spPr>
          <a:xfrm>
            <a:off x="2660904" y="1659636"/>
            <a:ext cx="109728" cy="109728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2"/>
          <p:cNvSpPr txBox="1"/>
          <p:nvPr/>
        </p:nvSpPr>
        <p:spPr>
          <a:xfrm>
            <a:off x="2880360" y="1348740"/>
            <a:ext cx="2514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Email Drafting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2"/>
          <p:cNvSpPr/>
          <p:nvPr/>
        </p:nvSpPr>
        <p:spPr>
          <a:xfrm>
            <a:off x="2514600" y="2171700"/>
            <a:ext cx="2971800" cy="731520"/>
          </a:xfrm>
          <a:prstGeom prst="roundRect">
            <a:avLst>
              <a:gd fmla="val 12500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2"/>
          <p:cNvSpPr/>
          <p:nvPr/>
        </p:nvSpPr>
        <p:spPr>
          <a:xfrm>
            <a:off x="2660904" y="2482596"/>
            <a:ext cx="109728" cy="109728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2"/>
          <p:cNvSpPr txBox="1"/>
          <p:nvPr/>
        </p:nvSpPr>
        <p:spPr>
          <a:xfrm>
            <a:off x="2880360" y="2171700"/>
            <a:ext cx="2514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Follow-up Suggestions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2"/>
          <p:cNvSpPr/>
          <p:nvPr/>
        </p:nvSpPr>
        <p:spPr>
          <a:xfrm>
            <a:off x="2514600" y="2994660"/>
            <a:ext cx="2971800" cy="731520"/>
          </a:xfrm>
          <a:prstGeom prst="roundRect">
            <a:avLst>
              <a:gd fmla="val 12500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12"/>
          <p:cNvSpPr/>
          <p:nvPr/>
        </p:nvSpPr>
        <p:spPr>
          <a:xfrm>
            <a:off x="2660904" y="3305556"/>
            <a:ext cx="109728" cy="109728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2"/>
          <p:cNvSpPr txBox="1"/>
          <p:nvPr/>
        </p:nvSpPr>
        <p:spPr>
          <a:xfrm>
            <a:off x="2880360" y="2994660"/>
            <a:ext cx="2514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Lead &amp; Company Information Enrichment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2"/>
          <p:cNvSpPr/>
          <p:nvPr/>
        </p:nvSpPr>
        <p:spPr>
          <a:xfrm>
            <a:off x="2514600" y="3817620"/>
            <a:ext cx="2971800" cy="731520"/>
          </a:xfrm>
          <a:prstGeom prst="roundRect">
            <a:avLst>
              <a:gd fmla="val 12500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12"/>
          <p:cNvSpPr/>
          <p:nvPr/>
        </p:nvSpPr>
        <p:spPr>
          <a:xfrm>
            <a:off x="2660904" y="4128516"/>
            <a:ext cx="109728" cy="109728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2"/>
          <p:cNvSpPr txBox="1"/>
          <p:nvPr/>
        </p:nvSpPr>
        <p:spPr>
          <a:xfrm>
            <a:off x="2880360" y="3817620"/>
            <a:ext cx="2514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Contact Summarization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2"/>
          <p:cNvSpPr/>
          <p:nvPr/>
        </p:nvSpPr>
        <p:spPr>
          <a:xfrm>
            <a:off x="5669280" y="1348740"/>
            <a:ext cx="2971800" cy="731520"/>
          </a:xfrm>
          <a:prstGeom prst="roundRect">
            <a:avLst>
              <a:gd fmla="val 12500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2"/>
          <p:cNvSpPr/>
          <p:nvPr/>
        </p:nvSpPr>
        <p:spPr>
          <a:xfrm>
            <a:off x="5815584" y="1659636"/>
            <a:ext cx="109728" cy="109728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2"/>
          <p:cNvSpPr txBox="1"/>
          <p:nvPr/>
        </p:nvSpPr>
        <p:spPr>
          <a:xfrm>
            <a:off x="6035040" y="1348740"/>
            <a:ext cx="2514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Sales Activity Summarization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2"/>
          <p:cNvSpPr/>
          <p:nvPr/>
        </p:nvSpPr>
        <p:spPr>
          <a:xfrm>
            <a:off x="5669280" y="2171700"/>
            <a:ext cx="2971800" cy="731520"/>
          </a:xfrm>
          <a:prstGeom prst="roundRect">
            <a:avLst>
              <a:gd fmla="val 12500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2"/>
          <p:cNvSpPr/>
          <p:nvPr/>
        </p:nvSpPr>
        <p:spPr>
          <a:xfrm>
            <a:off x="5815584" y="2482596"/>
            <a:ext cx="109728" cy="109728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2"/>
          <p:cNvSpPr txBox="1"/>
          <p:nvPr/>
        </p:nvSpPr>
        <p:spPr>
          <a:xfrm>
            <a:off x="6035040" y="2171700"/>
            <a:ext cx="2514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Natural Language CRM Search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2"/>
          <p:cNvSpPr/>
          <p:nvPr/>
        </p:nvSpPr>
        <p:spPr>
          <a:xfrm>
            <a:off x="5669280" y="2994660"/>
            <a:ext cx="2971800" cy="731520"/>
          </a:xfrm>
          <a:prstGeom prst="roundRect">
            <a:avLst>
              <a:gd fmla="val 12500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2"/>
          <p:cNvSpPr/>
          <p:nvPr/>
        </p:nvSpPr>
        <p:spPr>
          <a:xfrm>
            <a:off x="5815584" y="3305556"/>
            <a:ext cx="109728" cy="109728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12"/>
          <p:cNvSpPr txBox="1"/>
          <p:nvPr/>
        </p:nvSpPr>
        <p:spPr>
          <a:xfrm>
            <a:off x="6035040" y="2994660"/>
            <a:ext cx="2514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Reporting &amp; Insights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2"/>
          <p:cNvSpPr txBox="1"/>
          <p:nvPr>
            <p:ph idx="4294967295" type="sldNum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13"/>
          <p:cNvSpPr txBox="1"/>
          <p:nvPr>
            <p:ph type="title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lang="en-US" sz="3200">
                <a:solidFill>
                  <a:schemeClr val="dk1"/>
                </a:solidFill>
              </a:rPr>
              <a:t>Tasks &amp; Workflow Automation</a:t>
            </a:r>
            <a:endParaRPr sz="3200"/>
          </a:p>
        </p:txBody>
      </p:sp>
      <p:sp>
        <p:nvSpPr>
          <p:cNvPr id="475" name="Google Shape;475;p13"/>
          <p:cNvSpPr/>
          <p:nvPr/>
        </p:nvSpPr>
        <p:spPr>
          <a:xfrm>
            <a:off x="457200" y="1188720"/>
            <a:ext cx="1828800" cy="3520440"/>
          </a:xfrm>
          <a:prstGeom prst="roundRect">
            <a:avLst>
              <a:gd fmla="val 7000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13"/>
          <p:cNvSpPr/>
          <p:nvPr/>
        </p:nvSpPr>
        <p:spPr>
          <a:xfrm>
            <a:off x="777240" y="1463040"/>
            <a:ext cx="731520" cy="731520"/>
          </a:xfrm>
          <a:prstGeom prst="ellipse">
            <a:avLst/>
          </a:prstGeom>
          <a:solidFill>
            <a:schemeClr val="accent3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Tasks" id="477" name="Google Shape;47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120" y="16459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13"/>
          <p:cNvSpPr txBox="1"/>
          <p:nvPr/>
        </p:nvSpPr>
        <p:spPr>
          <a:xfrm>
            <a:off x="685800" y="2423160"/>
            <a:ext cx="1371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3"/>
          <p:cNvSpPr txBox="1"/>
          <p:nvPr/>
        </p:nvSpPr>
        <p:spPr>
          <a:xfrm>
            <a:off x="685800" y="320040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Module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3"/>
          <p:cNvSpPr txBox="1"/>
          <p:nvPr/>
        </p:nvSpPr>
        <p:spPr>
          <a:xfrm>
            <a:off x="685800" y="347472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 features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3"/>
          <p:cNvSpPr/>
          <p:nvPr/>
        </p:nvSpPr>
        <p:spPr>
          <a:xfrm>
            <a:off x="2514600" y="1348740"/>
            <a:ext cx="2971800" cy="731520"/>
          </a:xfrm>
          <a:prstGeom prst="roundRect">
            <a:avLst>
              <a:gd fmla="val 12500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3"/>
          <p:cNvSpPr/>
          <p:nvPr/>
        </p:nvSpPr>
        <p:spPr>
          <a:xfrm>
            <a:off x="2660904" y="1659636"/>
            <a:ext cx="109728" cy="109728"/>
          </a:xfrm>
          <a:prstGeom prst="ellipse">
            <a:avLst/>
          </a:prstGeom>
          <a:solidFill>
            <a:schemeClr val="accent3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3"/>
          <p:cNvSpPr txBox="1"/>
          <p:nvPr/>
        </p:nvSpPr>
        <p:spPr>
          <a:xfrm>
            <a:off x="2880360" y="1348740"/>
            <a:ext cx="2514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Task Creation &amp; Assignment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3"/>
          <p:cNvSpPr/>
          <p:nvPr/>
        </p:nvSpPr>
        <p:spPr>
          <a:xfrm>
            <a:off x="2514600" y="2171700"/>
            <a:ext cx="2971800" cy="731520"/>
          </a:xfrm>
          <a:prstGeom prst="roundRect">
            <a:avLst>
              <a:gd fmla="val 12500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13"/>
          <p:cNvSpPr/>
          <p:nvPr/>
        </p:nvSpPr>
        <p:spPr>
          <a:xfrm>
            <a:off x="2660904" y="2482596"/>
            <a:ext cx="109728" cy="109728"/>
          </a:xfrm>
          <a:prstGeom prst="ellipse">
            <a:avLst/>
          </a:prstGeom>
          <a:solidFill>
            <a:schemeClr val="accent3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13"/>
          <p:cNvSpPr txBox="1"/>
          <p:nvPr/>
        </p:nvSpPr>
        <p:spPr>
          <a:xfrm>
            <a:off x="2880360" y="2171700"/>
            <a:ext cx="2514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Follow-up Reminders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3"/>
          <p:cNvSpPr/>
          <p:nvPr/>
        </p:nvSpPr>
        <p:spPr>
          <a:xfrm>
            <a:off x="2514600" y="2994660"/>
            <a:ext cx="2971800" cy="731520"/>
          </a:xfrm>
          <a:prstGeom prst="roundRect">
            <a:avLst>
              <a:gd fmla="val 12500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13"/>
          <p:cNvSpPr/>
          <p:nvPr/>
        </p:nvSpPr>
        <p:spPr>
          <a:xfrm>
            <a:off x="2660904" y="3305556"/>
            <a:ext cx="109728" cy="109728"/>
          </a:xfrm>
          <a:prstGeom prst="ellipse">
            <a:avLst/>
          </a:prstGeom>
          <a:solidFill>
            <a:schemeClr val="accent3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13"/>
          <p:cNvSpPr txBox="1"/>
          <p:nvPr/>
        </p:nvSpPr>
        <p:spPr>
          <a:xfrm>
            <a:off x="2880360" y="2994660"/>
            <a:ext cx="2514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Activity Scheduling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3"/>
          <p:cNvSpPr/>
          <p:nvPr/>
        </p:nvSpPr>
        <p:spPr>
          <a:xfrm>
            <a:off x="2514600" y="3817620"/>
            <a:ext cx="2971800" cy="731520"/>
          </a:xfrm>
          <a:prstGeom prst="roundRect">
            <a:avLst>
              <a:gd fmla="val 12500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13"/>
          <p:cNvSpPr/>
          <p:nvPr/>
        </p:nvSpPr>
        <p:spPr>
          <a:xfrm>
            <a:off x="2660904" y="4128516"/>
            <a:ext cx="109728" cy="109728"/>
          </a:xfrm>
          <a:prstGeom prst="ellipse">
            <a:avLst/>
          </a:prstGeom>
          <a:solidFill>
            <a:schemeClr val="accent3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13"/>
          <p:cNvSpPr txBox="1"/>
          <p:nvPr/>
        </p:nvSpPr>
        <p:spPr>
          <a:xfrm>
            <a:off x="2880360" y="3817620"/>
            <a:ext cx="2514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Basic Workflow Automation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3"/>
          <p:cNvSpPr/>
          <p:nvPr/>
        </p:nvSpPr>
        <p:spPr>
          <a:xfrm>
            <a:off x="5669280" y="1348740"/>
            <a:ext cx="2971800" cy="731520"/>
          </a:xfrm>
          <a:prstGeom prst="roundRect">
            <a:avLst>
              <a:gd fmla="val 12500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13"/>
          <p:cNvSpPr/>
          <p:nvPr/>
        </p:nvSpPr>
        <p:spPr>
          <a:xfrm>
            <a:off x="5815584" y="1659636"/>
            <a:ext cx="109728" cy="109728"/>
          </a:xfrm>
          <a:prstGeom prst="ellipse">
            <a:avLst/>
          </a:prstGeom>
          <a:solidFill>
            <a:schemeClr val="accent3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13"/>
          <p:cNvSpPr txBox="1"/>
          <p:nvPr/>
        </p:nvSpPr>
        <p:spPr>
          <a:xfrm>
            <a:off x="6035040" y="1348740"/>
            <a:ext cx="2514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Lead Assignment Rules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3"/>
          <p:cNvSpPr/>
          <p:nvPr/>
        </p:nvSpPr>
        <p:spPr>
          <a:xfrm>
            <a:off x="5669280" y="2171700"/>
            <a:ext cx="2971800" cy="731520"/>
          </a:xfrm>
          <a:prstGeom prst="roundRect">
            <a:avLst>
              <a:gd fmla="val 12500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13"/>
          <p:cNvSpPr/>
          <p:nvPr/>
        </p:nvSpPr>
        <p:spPr>
          <a:xfrm>
            <a:off x="5815584" y="2482596"/>
            <a:ext cx="109728" cy="109728"/>
          </a:xfrm>
          <a:prstGeom prst="ellipse">
            <a:avLst/>
          </a:prstGeom>
          <a:solidFill>
            <a:schemeClr val="accent3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13"/>
          <p:cNvSpPr txBox="1"/>
          <p:nvPr/>
        </p:nvSpPr>
        <p:spPr>
          <a:xfrm>
            <a:off x="6035040" y="2171700"/>
            <a:ext cx="2514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Task Status Tracking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3"/>
          <p:cNvSpPr/>
          <p:nvPr/>
        </p:nvSpPr>
        <p:spPr>
          <a:xfrm>
            <a:off x="5669280" y="2994660"/>
            <a:ext cx="2971800" cy="731520"/>
          </a:xfrm>
          <a:prstGeom prst="roundRect">
            <a:avLst>
              <a:gd fmla="val 12500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13"/>
          <p:cNvSpPr/>
          <p:nvPr/>
        </p:nvSpPr>
        <p:spPr>
          <a:xfrm>
            <a:off x="5815584" y="3305556"/>
            <a:ext cx="109728" cy="109728"/>
          </a:xfrm>
          <a:prstGeom prst="ellipse">
            <a:avLst/>
          </a:prstGeom>
          <a:solidFill>
            <a:schemeClr val="accent3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13"/>
          <p:cNvSpPr txBox="1"/>
          <p:nvPr/>
        </p:nvSpPr>
        <p:spPr>
          <a:xfrm>
            <a:off x="6035040" y="2994660"/>
            <a:ext cx="2514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Notifications &amp; Alerts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3"/>
          <p:cNvSpPr txBox="1"/>
          <p:nvPr>
            <p:ph idx="4294967295" type="sldNum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14"/>
          <p:cNvSpPr txBox="1"/>
          <p:nvPr>
            <p:ph type="title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lang="en-US" sz="3200">
                <a:solidFill>
                  <a:schemeClr val="dk1"/>
                </a:solidFill>
              </a:rPr>
              <a:t>Dashboard &amp; Reporting</a:t>
            </a:r>
            <a:endParaRPr sz="3200"/>
          </a:p>
        </p:txBody>
      </p:sp>
      <p:sp>
        <p:nvSpPr>
          <p:cNvPr id="509" name="Google Shape;509;p14"/>
          <p:cNvSpPr/>
          <p:nvPr/>
        </p:nvSpPr>
        <p:spPr>
          <a:xfrm>
            <a:off x="457200" y="1188720"/>
            <a:ext cx="1828800" cy="3520440"/>
          </a:xfrm>
          <a:prstGeom prst="roundRect">
            <a:avLst>
              <a:gd fmla="val 7000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14"/>
          <p:cNvSpPr/>
          <p:nvPr/>
        </p:nvSpPr>
        <p:spPr>
          <a:xfrm>
            <a:off x="777240" y="1463040"/>
            <a:ext cx="731520" cy="731520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ChartPie" id="511" name="Google Shape;51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120" y="16459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14"/>
          <p:cNvSpPr txBox="1"/>
          <p:nvPr/>
        </p:nvSpPr>
        <p:spPr>
          <a:xfrm>
            <a:off x="685800" y="2423160"/>
            <a:ext cx="1371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4"/>
          <p:cNvSpPr txBox="1"/>
          <p:nvPr/>
        </p:nvSpPr>
        <p:spPr>
          <a:xfrm>
            <a:off x="685800" y="320040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Module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4"/>
          <p:cNvSpPr txBox="1"/>
          <p:nvPr/>
        </p:nvSpPr>
        <p:spPr>
          <a:xfrm>
            <a:off x="685800" y="347472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 features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4"/>
          <p:cNvSpPr/>
          <p:nvPr/>
        </p:nvSpPr>
        <p:spPr>
          <a:xfrm>
            <a:off x="2514600" y="1348740"/>
            <a:ext cx="2971800" cy="731520"/>
          </a:xfrm>
          <a:prstGeom prst="roundRect">
            <a:avLst>
              <a:gd fmla="val 12500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14"/>
          <p:cNvSpPr/>
          <p:nvPr/>
        </p:nvSpPr>
        <p:spPr>
          <a:xfrm>
            <a:off x="2660904" y="1659636"/>
            <a:ext cx="109728" cy="109728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14"/>
          <p:cNvSpPr txBox="1"/>
          <p:nvPr/>
        </p:nvSpPr>
        <p:spPr>
          <a:xfrm>
            <a:off x="2880360" y="1348740"/>
            <a:ext cx="2514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CRM Overview Dashboard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4"/>
          <p:cNvSpPr/>
          <p:nvPr/>
        </p:nvSpPr>
        <p:spPr>
          <a:xfrm>
            <a:off x="2514600" y="2171700"/>
            <a:ext cx="2971800" cy="731520"/>
          </a:xfrm>
          <a:prstGeom prst="roundRect">
            <a:avLst>
              <a:gd fmla="val 12500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14"/>
          <p:cNvSpPr/>
          <p:nvPr/>
        </p:nvSpPr>
        <p:spPr>
          <a:xfrm>
            <a:off x="2660904" y="2482596"/>
            <a:ext cx="109728" cy="109728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14"/>
          <p:cNvSpPr txBox="1"/>
          <p:nvPr/>
        </p:nvSpPr>
        <p:spPr>
          <a:xfrm>
            <a:off x="2880360" y="2171700"/>
            <a:ext cx="2514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Lead &amp; Contact Analytics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4"/>
          <p:cNvSpPr/>
          <p:nvPr/>
        </p:nvSpPr>
        <p:spPr>
          <a:xfrm>
            <a:off x="2514600" y="2994660"/>
            <a:ext cx="2971800" cy="731520"/>
          </a:xfrm>
          <a:prstGeom prst="roundRect">
            <a:avLst>
              <a:gd fmla="val 12500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14"/>
          <p:cNvSpPr/>
          <p:nvPr/>
        </p:nvSpPr>
        <p:spPr>
          <a:xfrm>
            <a:off x="2660904" y="3305556"/>
            <a:ext cx="109728" cy="109728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14"/>
          <p:cNvSpPr txBox="1"/>
          <p:nvPr/>
        </p:nvSpPr>
        <p:spPr>
          <a:xfrm>
            <a:off x="2880360" y="2994660"/>
            <a:ext cx="2514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Sales Pipeline Dashboard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4"/>
          <p:cNvSpPr/>
          <p:nvPr/>
        </p:nvSpPr>
        <p:spPr>
          <a:xfrm>
            <a:off x="2514600" y="3817620"/>
            <a:ext cx="2971800" cy="731520"/>
          </a:xfrm>
          <a:prstGeom prst="roundRect">
            <a:avLst>
              <a:gd fmla="val 12500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14"/>
          <p:cNvSpPr/>
          <p:nvPr/>
        </p:nvSpPr>
        <p:spPr>
          <a:xfrm>
            <a:off x="2660904" y="4128516"/>
            <a:ext cx="109728" cy="109728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14"/>
          <p:cNvSpPr txBox="1"/>
          <p:nvPr/>
        </p:nvSpPr>
        <p:spPr>
          <a:xfrm>
            <a:off x="2880360" y="3817620"/>
            <a:ext cx="2514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Deal &amp; Revenue Reporting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4"/>
          <p:cNvSpPr/>
          <p:nvPr/>
        </p:nvSpPr>
        <p:spPr>
          <a:xfrm>
            <a:off x="5669280" y="1348740"/>
            <a:ext cx="2971800" cy="731520"/>
          </a:xfrm>
          <a:prstGeom prst="roundRect">
            <a:avLst>
              <a:gd fmla="val 12500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14"/>
          <p:cNvSpPr/>
          <p:nvPr/>
        </p:nvSpPr>
        <p:spPr>
          <a:xfrm>
            <a:off x="5815584" y="1659636"/>
            <a:ext cx="109728" cy="109728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14"/>
          <p:cNvSpPr txBox="1"/>
          <p:nvPr/>
        </p:nvSpPr>
        <p:spPr>
          <a:xfrm>
            <a:off x="6035040" y="1348740"/>
            <a:ext cx="2514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Email Campaign Performance Dashboard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4"/>
          <p:cNvSpPr/>
          <p:nvPr/>
        </p:nvSpPr>
        <p:spPr>
          <a:xfrm>
            <a:off x="5669280" y="2171700"/>
            <a:ext cx="2971800" cy="731520"/>
          </a:xfrm>
          <a:prstGeom prst="roundRect">
            <a:avLst>
              <a:gd fmla="val 12500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14"/>
          <p:cNvSpPr/>
          <p:nvPr/>
        </p:nvSpPr>
        <p:spPr>
          <a:xfrm>
            <a:off x="5815584" y="2482596"/>
            <a:ext cx="109728" cy="109728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14"/>
          <p:cNvSpPr txBox="1"/>
          <p:nvPr/>
        </p:nvSpPr>
        <p:spPr>
          <a:xfrm>
            <a:off x="6035040" y="2171700"/>
            <a:ext cx="2514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Sales Team Activity Reports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4"/>
          <p:cNvSpPr/>
          <p:nvPr/>
        </p:nvSpPr>
        <p:spPr>
          <a:xfrm>
            <a:off x="5669280" y="2994660"/>
            <a:ext cx="2971800" cy="731520"/>
          </a:xfrm>
          <a:prstGeom prst="roundRect">
            <a:avLst>
              <a:gd fmla="val 12500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14"/>
          <p:cNvSpPr/>
          <p:nvPr/>
        </p:nvSpPr>
        <p:spPr>
          <a:xfrm>
            <a:off x="5815584" y="3305556"/>
            <a:ext cx="109728" cy="109728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14"/>
          <p:cNvSpPr txBox="1"/>
          <p:nvPr/>
        </p:nvSpPr>
        <p:spPr>
          <a:xfrm>
            <a:off x="6035040" y="2994660"/>
            <a:ext cx="2514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Lead Source Analytics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4"/>
          <p:cNvSpPr/>
          <p:nvPr/>
        </p:nvSpPr>
        <p:spPr>
          <a:xfrm>
            <a:off x="5669280" y="3817620"/>
            <a:ext cx="2971800" cy="731520"/>
          </a:xfrm>
          <a:prstGeom prst="roundRect">
            <a:avLst>
              <a:gd fmla="val 12500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14"/>
          <p:cNvSpPr/>
          <p:nvPr/>
        </p:nvSpPr>
        <p:spPr>
          <a:xfrm>
            <a:off x="5815584" y="4128516"/>
            <a:ext cx="109728" cy="109728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14"/>
          <p:cNvSpPr txBox="1"/>
          <p:nvPr/>
        </p:nvSpPr>
        <p:spPr>
          <a:xfrm>
            <a:off x="6035040" y="3817620"/>
            <a:ext cx="2514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Report Export (CSV / Excel)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4"/>
          <p:cNvSpPr txBox="1"/>
          <p:nvPr>
            <p:ph idx="4294967295" type="sldNum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15"/>
          <p:cNvSpPr txBox="1"/>
          <p:nvPr>
            <p:ph type="title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lang="en-US" sz="3200">
                <a:solidFill>
                  <a:schemeClr val="dk1"/>
                </a:solidFill>
              </a:rPr>
              <a:t>System Administration &amp; Security</a:t>
            </a:r>
            <a:endParaRPr sz="3200"/>
          </a:p>
        </p:txBody>
      </p:sp>
      <p:sp>
        <p:nvSpPr>
          <p:cNvPr id="546" name="Google Shape;546;p15"/>
          <p:cNvSpPr/>
          <p:nvPr/>
        </p:nvSpPr>
        <p:spPr>
          <a:xfrm>
            <a:off x="457200" y="1188720"/>
            <a:ext cx="1828800" cy="3520440"/>
          </a:xfrm>
          <a:prstGeom prst="roundRect">
            <a:avLst>
              <a:gd fmla="val 7000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15"/>
          <p:cNvSpPr/>
          <p:nvPr/>
        </p:nvSpPr>
        <p:spPr>
          <a:xfrm>
            <a:off x="777240" y="1463040"/>
            <a:ext cx="731520" cy="731520"/>
          </a:xfrm>
          <a:prstGeom prst="ellipse">
            <a:avLst/>
          </a:prstGeom>
          <a:solidFill>
            <a:schemeClr val="accent5"/>
          </a:solidFill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ShieldAlt" id="548" name="Google Shape;54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120" y="16459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15"/>
          <p:cNvSpPr txBox="1"/>
          <p:nvPr/>
        </p:nvSpPr>
        <p:spPr>
          <a:xfrm>
            <a:off x="685800" y="2423160"/>
            <a:ext cx="1371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5"/>
          <p:cNvSpPr txBox="1"/>
          <p:nvPr/>
        </p:nvSpPr>
        <p:spPr>
          <a:xfrm>
            <a:off x="685800" y="320040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Module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5"/>
          <p:cNvSpPr txBox="1"/>
          <p:nvPr/>
        </p:nvSpPr>
        <p:spPr>
          <a:xfrm>
            <a:off x="685800" y="347472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 features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5"/>
          <p:cNvSpPr/>
          <p:nvPr/>
        </p:nvSpPr>
        <p:spPr>
          <a:xfrm>
            <a:off x="2514600" y="1348740"/>
            <a:ext cx="2971800" cy="731520"/>
          </a:xfrm>
          <a:prstGeom prst="roundRect">
            <a:avLst>
              <a:gd fmla="val 12500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15"/>
          <p:cNvSpPr/>
          <p:nvPr/>
        </p:nvSpPr>
        <p:spPr>
          <a:xfrm>
            <a:off x="2660904" y="1659636"/>
            <a:ext cx="109728" cy="109728"/>
          </a:xfrm>
          <a:prstGeom prst="ellipse">
            <a:avLst/>
          </a:prstGeom>
          <a:solidFill>
            <a:schemeClr val="accent5"/>
          </a:solidFill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15"/>
          <p:cNvSpPr txBox="1"/>
          <p:nvPr/>
        </p:nvSpPr>
        <p:spPr>
          <a:xfrm>
            <a:off x="2880360" y="1348740"/>
            <a:ext cx="2514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Tenant Data Isolation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5"/>
          <p:cNvSpPr/>
          <p:nvPr/>
        </p:nvSpPr>
        <p:spPr>
          <a:xfrm>
            <a:off x="5669300" y="2206058"/>
            <a:ext cx="2971800" cy="731400"/>
          </a:xfrm>
          <a:prstGeom prst="roundRect">
            <a:avLst>
              <a:gd fmla="val 12500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15"/>
          <p:cNvSpPr/>
          <p:nvPr/>
        </p:nvSpPr>
        <p:spPr>
          <a:xfrm>
            <a:off x="5815604" y="2516954"/>
            <a:ext cx="109800" cy="109800"/>
          </a:xfrm>
          <a:prstGeom prst="ellipse">
            <a:avLst/>
          </a:prstGeom>
          <a:solidFill>
            <a:schemeClr val="accent5"/>
          </a:solidFill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15"/>
          <p:cNvSpPr txBox="1"/>
          <p:nvPr/>
        </p:nvSpPr>
        <p:spPr>
          <a:xfrm>
            <a:off x="6035060" y="2206058"/>
            <a:ext cx="2514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Import &amp; Export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5"/>
          <p:cNvSpPr/>
          <p:nvPr/>
        </p:nvSpPr>
        <p:spPr>
          <a:xfrm>
            <a:off x="5669280" y="1348740"/>
            <a:ext cx="2971800" cy="731520"/>
          </a:xfrm>
          <a:prstGeom prst="roundRect">
            <a:avLst>
              <a:gd fmla="val 12500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15"/>
          <p:cNvSpPr/>
          <p:nvPr/>
        </p:nvSpPr>
        <p:spPr>
          <a:xfrm>
            <a:off x="5815584" y="1659636"/>
            <a:ext cx="109728" cy="109728"/>
          </a:xfrm>
          <a:prstGeom prst="ellipse">
            <a:avLst/>
          </a:prstGeom>
          <a:solidFill>
            <a:schemeClr val="accent5"/>
          </a:solidFill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15"/>
          <p:cNvSpPr txBox="1"/>
          <p:nvPr/>
        </p:nvSpPr>
        <p:spPr>
          <a:xfrm>
            <a:off x="6035040" y="1348740"/>
            <a:ext cx="2514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Activity &amp; Audit Logs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5"/>
          <p:cNvSpPr/>
          <p:nvPr/>
        </p:nvSpPr>
        <p:spPr>
          <a:xfrm>
            <a:off x="2514605" y="2171738"/>
            <a:ext cx="2971800" cy="731400"/>
          </a:xfrm>
          <a:prstGeom prst="roundRect">
            <a:avLst>
              <a:gd fmla="val 12500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15"/>
          <p:cNvSpPr/>
          <p:nvPr/>
        </p:nvSpPr>
        <p:spPr>
          <a:xfrm>
            <a:off x="2660909" y="2482634"/>
            <a:ext cx="109800" cy="109800"/>
          </a:xfrm>
          <a:prstGeom prst="ellipse">
            <a:avLst/>
          </a:prstGeom>
          <a:solidFill>
            <a:schemeClr val="accent5"/>
          </a:solidFill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15"/>
          <p:cNvSpPr txBox="1"/>
          <p:nvPr/>
        </p:nvSpPr>
        <p:spPr>
          <a:xfrm>
            <a:off x="2880365" y="2171738"/>
            <a:ext cx="2514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Email Configuration Management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5"/>
          <p:cNvSpPr/>
          <p:nvPr/>
        </p:nvSpPr>
        <p:spPr>
          <a:xfrm>
            <a:off x="5669305" y="3074735"/>
            <a:ext cx="2971800" cy="731400"/>
          </a:xfrm>
          <a:prstGeom prst="roundRect">
            <a:avLst>
              <a:gd fmla="val 12500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15"/>
          <p:cNvSpPr/>
          <p:nvPr/>
        </p:nvSpPr>
        <p:spPr>
          <a:xfrm>
            <a:off x="5815609" y="3385631"/>
            <a:ext cx="109800" cy="109800"/>
          </a:xfrm>
          <a:prstGeom prst="ellipse">
            <a:avLst/>
          </a:prstGeom>
          <a:solidFill>
            <a:schemeClr val="accent5"/>
          </a:solidFill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15"/>
          <p:cNvSpPr txBox="1"/>
          <p:nvPr/>
        </p:nvSpPr>
        <p:spPr>
          <a:xfrm>
            <a:off x="6035065" y="3074735"/>
            <a:ext cx="2514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 Settings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5"/>
          <p:cNvSpPr/>
          <p:nvPr/>
        </p:nvSpPr>
        <p:spPr>
          <a:xfrm>
            <a:off x="2491743" y="3072702"/>
            <a:ext cx="2971800" cy="731400"/>
          </a:xfrm>
          <a:prstGeom prst="roundRect">
            <a:avLst>
              <a:gd fmla="val 12500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15"/>
          <p:cNvSpPr/>
          <p:nvPr/>
        </p:nvSpPr>
        <p:spPr>
          <a:xfrm>
            <a:off x="2638047" y="3383598"/>
            <a:ext cx="109800" cy="109800"/>
          </a:xfrm>
          <a:prstGeom prst="ellipse">
            <a:avLst/>
          </a:prstGeom>
          <a:solidFill>
            <a:schemeClr val="accent5"/>
          </a:solidFill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15"/>
          <p:cNvSpPr txBox="1"/>
          <p:nvPr/>
        </p:nvSpPr>
        <p:spPr>
          <a:xfrm>
            <a:off x="2857503" y="3072702"/>
            <a:ext cx="2514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Backup &amp; Recovery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15"/>
          <p:cNvSpPr txBox="1"/>
          <p:nvPr>
            <p:ph idx="4294967295" type="sldNum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16"/>
          <p:cNvSpPr txBox="1"/>
          <p:nvPr>
            <p:ph type="title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lang="en-US" sz="3200">
                <a:solidFill>
                  <a:schemeClr val="dk1"/>
                </a:solidFill>
              </a:rPr>
              <a:t>Technology</a:t>
            </a:r>
            <a:endParaRPr sz="3200"/>
          </a:p>
        </p:txBody>
      </p:sp>
      <p:sp>
        <p:nvSpPr>
          <p:cNvPr id="577" name="Google Shape;577;p16"/>
          <p:cNvSpPr/>
          <p:nvPr/>
        </p:nvSpPr>
        <p:spPr>
          <a:xfrm>
            <a:off x="457200" y="1417325"/>
            <a:ext cx="8321400" cy="2926200"/>
          </a:xfrm>
          <a:prstGeom prst="roundRect">
            <a:avLst>
              <a:gd fmla="val 4828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Code" id="578" name="Google Shape;57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31620" y="2080260"/>
            <a:ext cx="502920" cy="5029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aCloud" id="579" name="Google Shape;57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20540" y="208026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580" name="Google Shape;580;p16"/>
          <p:cNvSpPr txBox="1"/>
          <p:nvPr>
            <p:ph idx="4294967295" type="sldNum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81" name="Google Shape;581;p16" title="1_7fBikl-scsIOwjYuigQ-gw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28575" y="3200370"/>
            <a:ext cx="2568300" cy="886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2" name="Google Shape;582;p16" title="images.jpe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32781" y="1780350"/>
            <a:ext cx="1159887" cy="1102688"/>
          </a:xfrm>
          <a:prstGeom prst="rect">
            <a:avLst/>
          </a:prstGeom>
          <a:noFill/>
          <a:ln>
            <a:noFill/>
          </a:ln>
        </p:spPr>
      </p:pic>
      <p:pic>
        <p:nvPicPr>
          <p:cNvPr id="583" name="Google Shape;583;p16" title="Claude_AI_logo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149150" y="2102075"/>
            <a:ext cx="2128575" cy="45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4" name="Google Shape;584;p16" title="angular-logo-png_seeklogo-272813.png"/>
          <p:cNvPicPr preferRelativeResize="0"/>
          <p:nvPr/>
        </p:nvPicPr>
        <p:blipFill rotWithShape="1">
          <a:blip r:embed="rId8">
            <a:alphaModFix/>
          </a:blip>
          <a:srcRect b="33269" l="0" r="0" t="33770"/>
          <a:stretch/>
        </p:blipFill>
        <p:spPr>
          <a:xfrm>
            <a:off x="684625" y="1888675"/>
            <a:ext cx="2688101" cy="88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5" name="Google Shape;585;p16" title="sql-server-builds.jp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37025" y="3200375"/>
            <a:ext cx="2294925" cy="69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17"/>
          <p:cNvSpPr txBox="1"/>
          <p:nvPr>
            <p:ph type="title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lang="en-US" sz="3200">
                <a:solidFill>
                  <a:schemeClr val="dk1"/>
                </a:solidFill>
              </a:rPr>
              <a:t>Estimates</a:t>
            </a:r>
            <a:endParaRPr sz="3200"/>
          </a:p>
        </p:txBody>
      </p:sp>
      <p:sp>
        <p:nvSpPr>
          <p:cNvPr id="592" name="Google Shape;592;p17"/>
          <p:cNvSpPr/>
          <p:nvPr/>
        </p:nvSpPr>
        <p:spPr>
          <a:xfrm>
            <a:off x="457200" y="1188720"/>
            <a:ext cx="4023360" cy="3520440"/>
          </a:xfrm>
          <a:prstGeom prst="roundRect">
            <a:avLst>
              <a:gd fmla="val 3636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17"/>
          <p:cNvSpPr/>
          <p:nvPr/>
        </p:nvSpPr>
        <p:spPr>
          <a:xfrm>
            <a:off x="731520" y="1417320"/>
            <a:ext cx="1280160" cy="292608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Estimate 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17"/>
          <p:cNvSpPr txBox="1"/>
          <p:nvPr/>
        </p:nvSpPr>
        <p:spPr>
          <a:xfrm>
            <a:off x="731520" y="187452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Infrastructure 1 : 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Azure Cloud - VM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7"/>
          <p:cNvSpPr txBox="1"/>
          <p:nvPr/>
        </p:nvSpPr>
        <p:spPr>
          <a:xfrm>
            <a:off x="731520" y="233172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$1,224/year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7"/>
          <p:cNvSpPr txBox="1"/>
          <p:nvPr/>
        </p:nvSpPr>
        <p:spPr>
          <a:xfrm>
            <a:off x="731520" y="2819400"/>
            <a:ext cx="3474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Development:</a:t>
            </a:r>
            <a:r>
              <a:rPr b="0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Compatible for basic cloud infrastructure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17"/>
          <p:cNvSpPr txBox="1"/>
          <p:nvPr/>
        </p:nvSpPr>
        <p:spPr>
          <a:xfrm>
            <a:off x="731520" y="3276600"/>
            <a:ext cx="3474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$10,000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7"/>
          <p:cNvSpPr txBox="1"/>
          <p:nvPr/>
        </p:nvSpPr>
        <p:spPr>
          <a:xfrm>
            <a:off x="731520" y="361188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Timeline: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7"/>
          <p:cNvSpPr txBox="1"/>
          <p:nvPr/>
        </p:nvSpPr>
        <p:spPr>
          <a:xfrm>
            <a:off x="731520" y="40690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months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7"/>
          <p:cNvSpPr/>
          <p:nvPr/>
        </p:nvSpPr>
        <p:spPr>
          <a:xfrm>
            <a:off x="4663440" y="1188720"/>
            <a:ext cx="4023360" cy="3520440"/>
          </a:xfrm>
          <a:prstGeom prst="roundRect">
            <a:avLst>
              <a:gd fmla="val 3636" name="adj"/>
            </a:avLst>
          </a:prstGeom>
          <a:solidFill>
            <a:schemeClr val="accent1"/>
          </a:solidFill>
          <a:ln cap="flat" cmpd="sng" w="9525">
            <a:solidFill>
              <a:srgbClr val="4F46E5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17"/>
          <p:cNvSpPr/>
          <p:nvPr/>
        </p:nvSpPr>
        <p:spPr>
          <a:xfrm>
            <a:off x="4937760" y="1417320"/>
            <a:ext cx="1280160" cy="292608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Estimate 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7"/>
          <p:cNvSpPr txBox="1"/>
          <p:nvPr/>
        </p:nvSpPr>
        <p:spPr>
          <a:xfrm>
            <a:off x="4937760" y="187452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7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Infrastructure 2: </a:t>
            </a:r>
            <a:br>
              <a:rPr b="0" i="0" lang="en-US" sz="1400" u="none" cap="none" strike="noStrike">
                <a:solidFill>
                  <a:srgbClr val="E0E7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E0E7FF"/>
                </a:solidFill>
                <a:latin typeface="Calibri"/>
                <a:ea typeface="Calibri"/>
                <a:cs typeface="Calibri"/>
                <a:sym typeface="Calibri"/>
              </a:rPr>
              <a:t>Azure Cloud - </a:t>
            </a:r>
            <a:r>
              <a:rPr lang="en-US">
                <a:solidFill>
                  <a:srgbClr val="E0E7FF"/>
                </a:solidFill>
                <a:latin typeface="Calibri"/>
                <a:ea typeface="Calibri"/>
                <a:cs typeface="Calibri"/>
                <a:sym typeface="Calibri"/>
              </a:rPr>
              <a:t>Cluster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17"/>
          <p:cNvSpPr txBox="1"/>
          <p:nvPr/>
        </p:nvSpPr>
        <p:spPr>
          <a:xfrm>
            <a:off x="4937760" y="233172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$7,968.84/year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17"/>
          <p:cNvSpPr txBox="1"/>
          <p:nvPr/>
        </p:nvSpPr>
        <p:spPr>
          <a:xfrm>
            <a:off x="4937760" y="2819400"/>
            <a:ext cx="3474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7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Development:</a:t>
            </a:r>
            <a:endParaRPr b="1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7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0E7FF"/>
                </a:solidFill>
                <a:latin typeface="Calibri"/>
                <a:ea typeface="Calibri"/>
                <a:cs typeface="Calibri"/>
                <a:sym typeface="Calibri"/>
              </a:rPr>
              <a:t>High end AI CRM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7"/>
          <p:cNvSpPr txBox="1"/>
          <p:nvPr/>
        </p:nvSpPr>
        <p:spPr>
          <a:xfrm>
            <a:off x="4937760" y="3276600"/>
            <a:ext cx="3474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$12,000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17"/>
          <p:cNvSpPr txBox="1"/>
          <p:nvPr/>
        </p:nvSpPr>
        <p:spPr>
          <a:xfrm>
            <a:off x="4937760" y="361188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7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0E7FF"/>
                </a:solidFill>
                <a:latin typeface="Calibri"/>
                <a:ea typeface="Calibri"/>
                <a:cs typeface="Calibri"/>
                <a:sym typeface="Calibri"/>
              </a:rPr>
              <a:t>Timeline: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17"/>
          <p:cNvSpPr txBox="1"/>
          <p:nvPr/>
        </p:nvSpPr>
        <p:spPr>
          <a:xfrm>
            <a:off x="4937760" y="40690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 Months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7"/>
          <p:cNvSpPr txBox="1"/>
          <p:nvPr>
            <p:ph idx="4294967295" type="sldNum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18"/>
          <p:cNvSpPr txBox="1"/>
          <p:nvPr>
            <p:ph type="title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lang="en-US" sz="3200">
                <a:solidFill>
                  <a:schemeClr val="dk1"/>
                </a:solidFill>
              </a:rPr>
              <a:t>Milestones</a:t>
            </a:r>
            <a:endParaRPr sz="3200"/>
          </a:p>
        </p:txBody>
      </p:sp>
      <p:sp>
        <p:nvSpPr>
          <p:cNvPr id="615" name="Google Shape;615;p18"/>
          <p:cNvSpPr/>
          <p:nvPr/>
        </p:nvSpPr>
        <p:spPr>
          <a:xfrm>
            <a:off x="457200" y="1188720"/>
            <a:ext cx="1572768" cy="777240"/>
          </a:xfrm>
          <a:prstGeom prst="roundRect">
            <a:avLst>
              <a:gd fmla="val 14118" name="adj"/>
            </a:avLst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20%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18"/>
          <p:cNvSpPr/>
          <p:nvPr/>
        </p:nvSpPr>
        <p:spPr>
          <a:xfrm>
            <a:off x="2103120" y="1188720"/>
            <a:ext cx="2395728" cy="777240"/>
          </a:xfrm>
          <a:prstGeom prst="roundRect">
            <a:avLst>
              <a:gd fmla="val 14118" name="adj"/>
            </a:avLst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30%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18"/>
          <p:cNvSpPr/>
          <p:nvPr/>
        </p:nvSpPr>
        <p:spPr>
          <a:xfrm>
            <a:off x="4572000" y="1188720"/>
            <a:ext cx="1984248" cy="777240"/>
          </a:xfrm>
          <a:prstGeom prst="roundRect">
            <a:avLst>
              <a:gd fmla="val 14118" name="adj"/>
            </a:avLst>
          </a:prstGeom>
          <a:solidFill>
            <a:schemeClr val="accent3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25%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18"/>
          <p:cNvSpPr/>
          <p:nvPr/>
        </p:nvSpPr>
        <p:spPr>
          <a:xfrm>
            <a:off x="6629400" y="1188720"/>
            <a:ext cx="1984248" cy="777240"/>
          </a:xfrm>
          <a:prstGeom prst="roundRect">
            <a:avLst>
              <a:gd fmla="val 14118" name="adj"/>
            </a:avLst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25%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18"/>
          <p:cNvSpPr/>
          <p:nvPr/>
        </p:nvSpPr>
        <p:spPr>
          <a:xfrm>
            <a:off x="457200" y="2194560"/>
            <a:ext cx="1920240" cy="1920240"/>
          </a:xfrm>
          <a:prstGeom prst="roundRect">
            <a:avLst>
              <a:gd fmla="val 6667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18"/>
          <p:cNvSpPr/>
          <p:nvPr/>
        </p:nvSpPr>
        <p:spPr>
          <a:xfrm>
            <a:off x="640080" y="2377440"/>
            <a:ext cx="411480" cy="41148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18"/>
          <p:cNvSpPr txBox="1"/>
          <p:nvPr/>
        </p:nvSpPr>
        <p:spPr>
          <a:xfrm>
            <a:off x="640080" y="237744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18"/>
          <p:cNvSpPr txBox="1"/>
          <p:nvPr/>
        </p:nvSpPr>
        <p:spPr>
          <a:xfrm>
            <a:off x="1170432" y="2377440"/>
            <a:ext cx="1097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Milestone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18"/>
          <p:cNvSpPr txBox="1"/>
          <p:nvPr/>
        </p:nvSpPr>
        <p:spPr>
          <a:xfrm>
            <a:off x="640080" y="2971800"/>
            <a:ext cx="15544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 initiation &amp; requirements confirmation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18"/>
          <p:cNvSpPr/>
          <p:nvPr/>
        </p:nvSpPr>
        <p:spPr>
          <a:xfrm>
            <a:off x="2560320" y="2194560"/>
            <a:ext cx="1920240" cy="1920240"/>
          </a:xfrm>
          <a:prstGeom prst="roundRect">
            <a:avLst>
              <a:gd fmla="val 6667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18"/>
          <p:cNvSpPr/>
          <p:nvPr/>
        </p:nvSpPr>
        <p:spPr>
          <a:xfrm>
            <a:off x="2743200" y="2377440"/>
            <a:ext cx="411480" cy="41148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18"/>
          <p:cNvSpPr txBox="1"/>
          <p:nvPr/>
        </p:nvSpPr>
        <p:spPr>
          <a:xfrm>
            <a:off x="2743200" y="237744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18"/>
          <p:cNvSpPr txBox="1"/>
          <p:nvPr/>
        </p:nvSpPr>
        <p:spPr>
          <a:xfrm>
            <a:off x="3273552" y="2377440"/>
            <a:ext cx="1097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Milestone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18"/>
          <p:cNvSpPr txBox="1"/>
          <p:nvPr/>
        </p:nvSpPr>
        <p:spPr>
          <a:xfrm>
            <a:off x="2743200" y="2971800"/>
            <a:ext cx="15544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Core CRM development completion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18"/>
          <p:cNvSpPr/>
          <p:nvPr/>
        </p:nvSpPr>
        <p:spPr>
          <a:xfrm>
            <a:off x="4663440" y="2194560"/>
            <a:ext cx="1920240" cy="1920240"/>
          </a:xfrm>
          <a:prstGeom prst="roundRect">
            <a:avLst>
              <a:gd fmla="val 6667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18"/>
          <p:cNvSpPr/>
          <p:nvPr/>
        </p:nvSpPr>
        <p:spPr>
          <a:xfrm>
            <a:off x="4846320" y="2377440"/>
            <a:ext cx="411480" cy="411480"/>
          </a:xfrm>
          <a:prstGeom prst="ellipse">
            <a:avLst/>
          </a:prstGeom>
          <a:solidFill>
            <a:schemeClr val="accent3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18"/>
          <p:cNvSpPr txBox="1"/>
          <p:nvPr/>
        </p:nvSpPr>
        <p:spPr>
          <a:xfrm>
            <a:off x="4846320" y="237744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18"/>
          <p:cNvSpPr txBox="1"/>
          <p:nvPr/>
        </p:nvSpPr>
        <p:spPr>
          <a:xfrm>
            <a:off x="5376672" y="2377440"/>
            <a:ext cx="1097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Milestone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18"/>
          <p:cNvSpPr txBox="1"/>
          <p:nvPr/>
        </p:nvSpPr>
        <p:spPr>
          <a:xfrm>
            <a:off x="4846320" y="2971800"/>
            <a:ext cx="15544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features &amp; integrations completion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18"/>
          <p:cNvSpPr/>
          <p:nvPr/>
        </p:nvSpPr>
        <p:spPr>
          <a:xfrm>
            <a:off x="6766560" y="2194560"/>
            <a:ext cx="1920240" cy="1920240"/>
          </a:xfrm>
          <a:prstGeom prst="roundRect">
            <a:avLst>
              <a:gd fmla="val 6667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18"/>
          <p:cNvSpPr/>
          <p:nvPr/>
        </p:nvSpPr>
        <p:spPr>
          <a:xfrm>
            <a:off x="6949440" y="2377440"/>
            <a:ext cx="411480" cy="411480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18"/>
          <p:cNvSpPr txBox="1"/>
          <p:nvPr/>
        </p:nvSpPr>
        <p:spPr>
          <a:xfrm>
            <a:off x="6949440" y="237744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18"/>
          <p:cNvSpPr txBox="1"/>
          <p:nvPr/>
        </p:nvSpPr>
        <p:spPr>
          <a:xfrm>
            <a:off x="7479792" y="2377440"/>
            <a:ext cx="1097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Milestone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18"/>
          <p:cNvSpPr txBox="1"/>
          <p:nvPr/>
        </p:nvSpPr>
        <p:spPr>
          <a:xfrm>
            <a:off x="6949440" y="2971800"/>
            <a:ext cx="15544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Final testing, deployment &amp; acceptance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18"/>
          <p:cNvSpPr/>
          <p:nvPr/>
        </p:nvSpPr>
        <p:spPr>
          <a:xfrm>
            <a:off x="7223760" y="4343400"/>
            <a:ext cx="1463040" cy="292608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Total 100%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18"/>
          <p:cNvSpPr txBox="1"/>
          <p:nvPr>
            <p:ph idx="4294967295" type="sldNum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19"/>
          <p:cNvSpPr txBox="1"/>
          <p:nvPr>
            <p:ph type="title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lang="en-US" sz="3200">
                <a:solidFill>
                  <a:schemeClr val="dk1"/>
                </a:solidFill>
              </a:rPr>
              <a:t>Support &amp; Team</a:t>
            </a:r>
            <a:endParaRPr sz="3200"/>
          </a:p>
        </p:txBody>
      </p:sp>
      <p:sp>
        <p:nvSpPr>
          <p:cNvPr id="647" name="Google Shape;647;p19"/>
          <p:cNvSpPr/>
          <p:nvPr/>
        </p:nvSpPr>
        <p:spPr>
          <a:xfrm>
            <a:off x="457200" y="1188720"/>
            <a:ext cx="4023360" cy="3520440"/>
          </a:xfrm>
          <a:prstGeom prst="roundRect">
            <a:avLst>
              <a:gd fmla="val 3636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19"/>
          <p:cNvSpPr/>
          <p:nvPr/>
        </p:nvSpPr>
        <p:spPr>
          <a:xfrm>
            <a:off x="777240" y="1508760"/>
            <a:ext cx="731520" cy="73152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Headset" id="649" name="Google Shape;64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120" y="16916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19"/>
          <p:cNvSpPr txBox="1"/>
          <p:nvPr/>
        </p:nvSpPr>
        <p:spPr>
          <a:xfrm>
            <a:off x="777240" y="251460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Support: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19"/>
          <p:cNvSpPr txBox="1"/>
          <p:nvPr/>
        </p:nvSpPr>
        <p:spPr>
          <a:xfrm>
            <a:off x="777240" y="2971800"/>
            <a:ext cx="3474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$20/per hour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19"/>
          <p:cNvSpPr/>
          <p:nvPr/>
        </p:nvSpPr>
        <p:spPr>
          <a:xfrm>
            <a:off x="4663440" y="1188720"/>
            <a:ext cx="4023300" cy="3520500"/>
          </a:xfrm>
          <a:prstGeom prst="roundRect">
            <a:avLst>
              <a:gd fmla="val 3636" name="adj"/>
            </a:avLst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38100">
              <a:srgbClr val="1E29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19"/>
          <p:cNvSpPr txBox="1"/>
          <p:nvPr/>
        </p:nvSpPr>
        <p:spPr>
          <a:xfrm>
            <a:off x="4983480" y="1463040"/>
            <a:ext cx="3383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Team: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19"/>
          <p:cNvSpPr/>
          <p:nvPr/>
        </p:nvSpPr>
        <p:spPr>
          <a:xfrm>
            <a:off x="4937760" y="2057400"/>
            <a:ext cx="3474600" cy="1097400"/>
          </a:xfrm>
          <a:prstGeom prst="roundRect">
            <a:avLst>
              <a:gd fmla="val 11667" name="adj"/>
            </a:avLst>
          </a:prstGeom>
          <a:solidFill>
            <a:schemeClr val="lt2"/>
          </a:solidFill>
          <a:ln cap="flat" cmpd="sng" w="9525">
            <a:solidFill>
              <a:srgbClr val="DDE3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19"/>
          <p:cNvSpPr/>
          <p:nvPr/>
        </p:nvSpPr>
        <p:spPr>
          <a:xfrm>
            <a:off x="5120640" y="2331720"/>
            <a:ext cx="548700" cy="5487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UserTie" id="656" name="Google Shape;65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57800" y="24688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57" name="Google Shape;657;p19"/>
          <p:cNvSpPr txBox="1"/>
          <p:nvPr/>
        </p:nvSpPr>
        <p:spPr>
          <a:xfrm>
            <a:off x="5852160" y="2240280"/>
            <a:ext cx="2469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lang="en-US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Software Architect &amp; </a:t>
            </a:r>
            <a:r>
              <a:rPr b="0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Senior Developer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19"/>
          <p:cNvSpPr txBox="1"/>
          <p:nvPr/>
        </p:nvSpPr>
        <p:spPr>
          <a:xfrm>
            <a:off x="5852160" y="2587752"/>
            <a:ext cx="2469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llol Roy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19"/>
          <p:cNvSpPr/>
          <p:nvPr/>
        </p:nvSpPr>
        <p:spPr>
          <a:xfrm>
            <a:off x="4937760" y="3337560"/>
            <a:ext cx="3474720" cy="1097280"/>
          </a:xfrm>
          <a:prstGeom prst="roundRect">
            <a:avLst>
              <a:gd fmla="val 11667" name="adj"/>
            </a:avLst>
          </a:prstGeom>
          <a:solidFill>
            <a:schemeClr val="lt2"/>
          </a:solidFill>
          <a:ln cap="flat" cmpd="sng" w="9525">
            <a:solidFill>
              <a:srgbClr val="DDE3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19"/>
          <p:cNvSpPr/>
          <p:nvPr/>
        </p:nvSpPr>
        <p:spPr>
          <a:xfrm>
            <a:off x="5120640" y="3611880"/>
            <a:ext cx="548640" cy="548640"/>
          </a:xfrm>
          <a:prstGeom prst="ellipse">
            <a:avLst/>
          </a:prstGeom>
          <a:solidFill>
            <a:schemeClr val="accent3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Bug" id="661" name="Google Shape;661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57800" y="374904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19"/>
          <p:cNvSpPr txBox="1"/>
          <p:nvPr/>
        </p:nvSpPr>
        <p:spPr>
          <a:xfrm>
            <a:off x="5852160" y="352044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QA &amp; Tester (Module Based)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19"/>
          <p:cNvSpPr txBox="1"/>
          <p:nvPr/>
        </p:nvSpPr>
        <p:spPr>
          <a:xfrm>
            <a:off x="5852160" y="3867912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Ta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zim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19"/>
          <p:cNvSpPr txBox="1"/>
          <p:nvPr>
            <p:ph idx="4294967295" type="sldNum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20"/>
          <p:cNvSpPr/>
          <p:nvPr/>
        </p:nvSpPr>
        <p:spPr>
          <a:xfrm>
            <a:off x="914400" y="1143000"/>
            <a:ext cx="566928" cy="566928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Users" id="671" name="Google Shape;67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6132" y="1284732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672" name="Google Shape;672;p20"/>
          <p:cNvSpPr/>
          <p:nvPr/>
        </p:nvSpPr>
        <p:spPr>
          <a:xfrm>
            <a:off x="1664208" y="1143000"/>
            <a:ext cx="566928" cy="566928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AddressBook" id="673" name="Google Shape;67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5940" y="1284732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20"/>
          <p:cNvSpPr/>
          <p:nvPr/>
        </p:nvSpPr>
        <p:spPr>
          <a:xfrm>
            <a:off x="2414016" y="1143000"/>
            <a:ext cx="566928" cy="566928"/>
          </a:xfrm>
          <a:prstGeom prst="ellipse">
            <a:avLst/>
          </a:prstGeom>
          <a:solidFill>
            <a:schemeClr val="accent3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IdCard" id="675" name="Google Shape;675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55748" y="1284732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676" name="Google Shape;676;p20"/>
          <p:cNvSpPr/>
          <p:nvPr/>
        </p:nvSpPr>
        <p:spPr>
          <a:xfrm>
            <a:off x="3163824" y="1143000"/>
            <a:ext cx="566928" cy="566928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FunnelDollar" id="677" name="Google Shape;677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05556" y="1284732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20"/>
          <p:cNvSpPr/>
          <p:nvPr/>
        </p:nvSpPr>
        <p:spPr>
          <a:xfrm>
            <a:off x="3913632" y="1143000"/>
            <a:ext cx="566928" cy="566928"/>
          </a:xfrm>
          <a:prstGeom prst="ellipse">
            <a:avLst/>
          </a:prstGeom>
          <a:solidFill>
            <a:schemeClr val="accent5"/>
          </a:solidFill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Inbox" id="679" name="Google Shape;679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055364" y="1284732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680" name="Google Shape;680;p20"/>
          <p:cNvSpPr/>
          <p:nvPr/>
        </p:nvSpPr>
        <p:spPr>
          <a:xfrm>
            <a:off x="4663440" y="1143000"/>
            <a:ext cx="566928" cy="566928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Bullhorn" id="681" name="Google Shape;681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805172" y="1284732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20"/>
          <p:cNvSpPr/>
          <p:nvPr/>
        </p:nvSpPr>
        <p:spPr>
          <a:xfrm>
            <a:off x="5413248" y="1143000"/>
            <a:ext cx="566928" cy="566928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Robot" id="683" name="Google Shape;683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554980" y="1284732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684" name="Google Shape;684;p20"/>
          <p:cNvSpPr/>
          <p:nvPr/>
        </p:nvSpPr>
        <p:spPr>
          <a:xfrm>
            <a:off x="6163056" y="1143000"/>
            <a:ext cx="566928" cy="566928"/>
          </a:xfrm>
          <a:prstGeom prst="ellipse">
            <a:avLst/>
          </a:prstGeom>
          <a:solidFill>
            <a:schemeClr val="accent3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Tasks" id="685" name="Google Shape;685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304788" y="1284732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20"/>
          <p:cNvSpPr/>
          <p:nvPr/>
        </p:nvSpPr>
        <p:spPr>
          <a:xfrm>
            <a:off x="6912864" y="1143000"/>
            <a:ext cx="566928" cy="566928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ChartPie" id="687" name="Google Shape;687;p2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054596" y="1284732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688" name="Google Shape;688;p20"/>
          <p:cNvSpPr/>
          <p:nvPr/>
        </p:nvSpPr>
        <p:spPr>
          <a:xfrm>
            <a:off x="7662672" y="1143000"/>
            <a:ext cx="566928" cy="566928"/>
          </a:xfrm>
          <a:prstGeom prst="ellipse">
            <a:avLst/>
          </a:prstGeom>
          <a:solidFill>
            <a:schemeClr val="accent5"/>
          </a:solidFill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ShieldAlt" id="689" name="Google Shape;689;p2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804404" y="1284732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20"/>
          <p:cNvSpPr txBox="1"/>
          <p:nvPr/>
        </p:nvSpPr>
        <p:spPr>
          <a:xfrm>
            <a:off x="914400" y="2057400"/>
            <a:ext cx="73152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AILA CRM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20"/>
          <p:cNvSpPr txBox="1"/>
          <p:nvPr/>
        </p:nvSpPr>
        <p:spPr>
          <a:xfrm>
            <a:off x="1371600" y="3200400"/>
            <a:ext cx="6400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One Platform to Manage Leads, Automate Work, and Grow Sales.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ILA Tech Light">
  <a:themeElements>
    <a:clrScheme name="AILA Tech Light">
      <a:dk1>
        <a:srgbClr val="0B1B3A"/>
      </a:dk1>
      <a:lt1>
        <a:srgbClr val="FFFFFF"/>
      </a:lt1>
      <a:dk2>
        <a:srgbClr val="475569"/>
      </a:dk2>
      <a:lt2>
        <a:srgbClr val="EEF2FF"/>
      </a:lt2>
      <a:accent1>
        <a:srgbClr val="4F46E5"/>
      </a:accent1>
      <a:accent2>
        <a:srgbClr val="0891B2"/>
      </a:accent2>
      <a:accent3>
        <a:srgbClr val="7C3AED"/>
      </a:accent3>
      <a:accent4>
        <a:srgbClr val="059669"/>
      </a:accent4>
      <a:accent5>
        <a:srgbClr val="E11D48"/>
      </a:accent5>
      <a:accent6>
        <a:srgbClr val="2563EB"/>
      </a:accent6>
      <a:hlink>
        <a:srgbClr val="4F46E5"/>
      </a:hlink>
      <a:folHlink>
        <a:srgbClr val="7C3AE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ILA Tech Light">
  <a:themeElements>
    <a:clrScheme name="AILA Tech Light">
      <a:dk1>
        <a:srgbClr val="0B1B3A"/>
      </a:dk1>
      <a:lt1>
        <a:srgbClr val="FFFFFF"/>
      </a:lt1>
      <a:dk2>
        <a:srgbClr val="475569"/>
      </a:dk2>
      <a:lt2>
        <a:srgbClr val="EEF2FF"/>
      </a:lt2>
      <a:accent1>
        <a:srgbClr val="4F46E5"/>
      </a:accent1>
      <a:accent2>
        <a:srgbClr val="0891B2"/>
      </a:accent2>
      <a:accent3>
        <a:srgbClr val="7C3AED"/>
      </a:accent3>
      <a:accent4>
        <a:srgbClr val="059669"/>
      </a:accent4>
      <a:accent5>
        <a:srgbClr val="E11D48"/>
      </a:accent5>
      <a:accent6>
        <a:srgbClr val="2563EB"/>
      </a:accent6>
      <a:hlink>
        <a:srgbClr val="4F46E5"/>
      </a:hlink>
      <a:folHlink>
        <a:srgbClr val="7C3AE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2026-10-10T06:33:55Z</dcterms:created>
  <dc:creator>PptxGenJS</dc:creator>
</cp:coreProperties>
</file>